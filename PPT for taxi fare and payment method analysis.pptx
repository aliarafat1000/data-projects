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handoutMasterIdLst>
    <p:handoutMasterId r:id="rId15"/>
  </p:handoutMasterIdLst>
  <p:sldIdLst>
    <p:sldId id="328" r:id="rId2"/>
    <p:sldId id="259" r:id="rId3"/>
    <p:sldId id="330" r:id="rId4"/>
    <p:sldId id="331" r:id="rId5"/>
    <p:sldId id="321" r:id="rId6"/>
    <p:sldId id="296" r:id="rId7"/>
    <p:sldId id="332" r:id="rId8"/>
    <p:sldId id="333" r:id="rId9"/>
    <p:sldId id="334" r:id="rId10"/>
    <p:sldId id="335" r:id="rId11"/>
    <p:sldId id="336" r:id="rId12"/>
    <p:sldId id="297" r:id="rId13"/>
  </p:sldIdLst>
  <p:sldSz cx="9144000" cy="6858000" type="screen4x3"/>
  <p:notesSz cx="6858000" cy="9144000"/>
  <p:embeddedFontLst>
    <p:embeddedFont>
      <p:font typeface="굴림체" panose="020B0609000101010101" pitchFamily="49" charset="-127"/>
      <p:regular r:id="rId16"/>
    </p:embeddedFont>
    <p:embeddedFont>
      <p:font typeface="맑은 고딕" panose="020B0503020000020004" pitchFamily="34" charset="-127"/>
      <p:regular r:id="rId17"/>
      <p:bold r:id="rId18"/>
    </p:embeddedFont>
    <p:embeddedFont>
      <p:font typeface="Noto Sans" panose="020B0502040504020204" pitchFamily="34" charset="0"/>
      <p:regular r:id="rId19"/>
      <p:bold r:id="rId20"/>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643F"/>
    <a:srgbClr val="CE8707"/>
    <a:srgbClr val="FFA200"/>
    <a:srgbClr val="3E3E3E"/>
    <a:srgbClr val="A69CD0"/>
    <a:srgbClr val="624FAB"/>
    <a:srgbClr val="B2A4C5"/>
    <a:srgbClr val="F7C716"/>
    <a:srgbClr val="2A2A24"/>
    <a:srgbClr val="F8C8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31" autoAdjust="0"/>
    <p:restoredTop sz="94813" autoAdjust="0"/>
  </p:normalViewPr>
  <p:slideViewPr>
    <p:cSldViewPr>
      <p:cViewPr varScale="1">
        <p:scale>
          <a:sx n="59" d="100"/>
          <a:sy n="59" d="100"/>
        </p:scale>
        <p:origin x="1712" y="52"/>
      </p:cViewPr>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63" d="100"/>
          <a:sy n="63" d="100"/>
        </p:scale>
        <p:origin x="2462" y="6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CFBE2-2B8D-499C-81C9-2CD5B3EB8E93}" type="datetimeFigureOut">
              <a:rPr lang="ko-KR" altLang="en-US" smtClean="0"/>
              <a:pPr/>
              <a:t>2025-02-05</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54DD7E-3179-445A-81DB-781C4554AFF2}" type="slidenum">
              <a:rPr lang="ko-KR" altLang="en-US" smtClean="0"/>
              <a:pPr/>
              <a:t>‹#›</a:t>
            </a:fld>
            <a:endParaRPr lang="ko-KR" altLang="en-US"/>
          </a:p>
        </p:txBody>
      </p:sp>
    </p:spTree>
    <p:extLst>
      <p:ext uri="{BB962C8B-B14F-4D97-AF65-F5344CB8AC3E}">
        <p14:creationId xmlns:p14="http://schemas.microsoft.com/office/powerpoint/2010/main" val="2469536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545AC5-813F-4ED1-B011-8EA17CB93331}" type="datetimeFigureOut">
              <a:rPr lang="ko-KR" altLang="en-US" smtClean="0"/>
              <a:pPr/>
              <a:t>2025-02-05</a:t>
            </a:fld>
            <a:endParaRPr lang="ko-KR" altLang="en-US"/>
          </a:p>
        </p:txBody>
      </p:sp>
      <p:sp>
        <p:nvSpPr>
          <p:cNvPr id="4" name="슬라이드 이미지 개체 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504B90-27FD-422C-8CC6-2AADAD122D08}" type="slidenum">
              <a:rPr lang="ko-KR" altLang="en-US" smtClean="0"/>
              <a:pPr/>
              <a:t>‹#›</a:t>
            </a:fld>
            <a:endParaRPr lang="ko-KR" altLang="en-US"/>
          </a:p>
        </p:txBody>
      </p:sp>
    </p:spTree>
    <p:extLst>
      <p:ext uri="{BB962C8B-B14F-4D97-AF65-F5344CB8AC3E}">
        <p14:creationId xmlns:p14="http://schemas.microsoft.com/office/powerpoint/2010/main" val="2687072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A5504B90-27FD-422C-8CC6-2AADAD122D08}" type="slidenum">
              <a:rPr lang="ko-KR" altLang="en-US" smtClean="0"/>
              <a:pPr/>
              <a:t>1</a:t>
            </a:fld>
            <a:endParaRPr lang="ko-KR" altLang="en-US" dirty="0"/>
          </a:p>
        </p:txBody>
      </p:sp>
    </p:spTree>
    <p:extLst>
      <p:ext uri="{BB962C8B-B14F-4D97-AF65-F5344CB8AC3E}">
        <p14:creationId xmlns:p14="http://schemas.microsoft.com/office/powerpoint/2010/main" val="3959325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A5504B90-27FD-422C-8CC6-2AADAD122D08}" type="slidenum">
              <a:rPr lang="ko-KR" altLang="en-US" smtClean="0"/>
              <a:pPr/>
              <a:t>3</a:t>
            </a:fld>
            <a:endParaRPr lang="ko-KR" altLang="en-US"/>
          </a:p>
        </p:txBody>
      </p:sp>
    </p:spTree>
    <p:extLst>
      <p:ext uri="{BB962C8B-B14F-4D97-AF65-F5344CB8AC3E}">
        <p14:creationId xmlns:p14="http://schemas.microsoft.com/office/powerpoint/2010/main" val="501573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73735-0891-0E82-ECD1-3A1CE754EF7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6BE11CE-3CD1-2A22-68AF-7816DE6543E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72619BD-00ED-AEC4-400B-1D1231525DD9}"/>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2557B5A3-E239-54B7-E564-5DC6030DEB03}"/>
              </a:ext>
            </a:extLst>
          </p:cNvPr>
          <p:cNvSpPr>
            <a:spLocks noGrp="1"/>
          </p:cNvSpPr>
          <p:nvPr>
            <p:ph type="sldNum" sz="quarter" idx="10"/>
          </p:nvPr>
        </p:nvSpPr>
        <p:spPr/>
        <p:txBody>
          <a:bodyPr/>
          <a:lstStyle/>
          <a:p>
            <a:fld id="{A5504B90-27FD-422C-8CC6-2AADAD122D08}" type="slidenum">
              <a:rPr lang="ko-KR" altLang="en-US" smtClean="0"/>
              <a:pPr/>
              <a:t>4</a:t>
            </a:fld>
            <a:endParaRPr lang="ko-KR" altLang="en-US"/>
          </a:p>
        </p:txBody>
      </p:sp>
    </p:spTree>
    <p:extLst>
      <p:ext uri="{BB962C8B-B14F-4D97-AF65-F5344CB8AC3E}">
        <p14:creationId xmlns:p14="http://schemas.microsoft.com/office/powerpoint/2010/main" val="3032892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5504B90-27FD-422C-8CC6-2AADAD122D08}" type="slidenum">
              <a:rPr lang="ko-KR" altLang="en-US" smtClean="0"/>
              <a:pPr/>
              <a:t>5</a:t>
            </a:fld>
            <a:endParaRPr lang="ko-KR" altLang="en-US"/>
          </a:p>
        </p:txBody>
      </p:sp>
    </p:spTree>
    <p:extLst>
      <p:ext uri="{BB962C8B-B14F-4D97-AF65-F5344CB8AC3E}">
        <p14:creationId xmlns:p14="http://schemas.microsoft.com/office/powerpoint/2010/main" val="1817674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A5504B90-27FD-422C-8CC6-2AADAD122D08}" type="slidenum">
              <a:rPr lang="ko-KR" altLang="en-US" smtClean="0"/>
              <a:pPr/>
              <a:t>6</a:t>
            </a:fld>
            <a:endParaRPr lang="ko-KR" altLang="en-US"/>
          </a:p>
        </p:txBody>
      </p:sp>
    </p:spTree>
    <p:extLst>
      <p:ext uri="{BB962C8B-B14F-4D97-AF65-F5344CB8AC3E}">
        <p14:creationId xmlns:p14="http://schemas.microsoft.com/office/powerpoint/2010/main" val="3168199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25E63-21A4-4DBA-93AA-0B0660EF900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944F0F2-15C5-6297-3117-405FC5A2D34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83FDD23-69E1-9D6D-A559-7350DBDF1320}"/>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53BFD90A-E898-D42E-CE39-EDD81D167F01}"/>
              </a:ext>
            </a:extLst>
          </p:cNvPr>
          <p:cNvSpPr>
            <a:spLocks noGrp="1"/>
          </p:cNvSpPr>
          <p:nvPr>
            <p:ph type="sldNum" sz="quarter" idx="10"/>
          </p:nvPr>
        </p:nvSpPr>
        <p:spPr/>
        <p:txBody>
          <a:bodyPr/>
          <a:lstStyle/>
          <a:p>
            <a:fld id="{A5504B90-27FD-422C-8CC6-2AADAD122D08}" type="slidenum">
              <a:rPr lang="ko-KR" altLang="en-US" smtClean="0"/>
              <a:pPr/>
              <a:t>7</a:t>
            </a:fld>
            <a:endParaRPr lang="ko-KR" altLang="en-US"/>
          </a:p>
        </p:txBody>
      </p:sp>
    </p:spTree>
    <p:extLst>
      <p:ext uri="{BB962C8B-B14F-4D97-AF65-F5344CB8AC3E}">
        <p14:creationId xmlns:p14="http://schemas.microsoft.com/office/powerpoint/2010/main" val="1194009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88B54-B93C-AF9D-28B9-37228F25142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B925E29-FEA8-E0FB-5D9A-54FCA520D2A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C5C3219-C5D5-B5CB-7FE6-9F4FC1C55222}"/>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E2A22BFB-D4C7-834D-9EC7-FE11F13233E5}"/>
              </a:ext>
            </a:extLst>
          </p:cNvPr>
          <p:cNvSpPr>
            <a:spLocks noGrp="1"/>
          </p:cNvSpPr>
          <p:nvPr>
            <p:ph type="sldNum" sz="quarter" idx="10"/>
          </p:nvPr>
        </p:nvSpPr>
        <p:spPr/>
        <p:txBody>
          <a:bodyPr/>
          <a:lstStyle/>
          <a:p>
            <a:fld id="{A5504B90-27FD-422C-8CC6-2AADAD122D08}" type="slidenum">
              <a:rPr lang="ko-KR" altLang="en-US" smtClean="0"/>
              <a:pPr/>
              <a:t>8</a:t>
            </a:fld>
            <a:endParaRPr lang="ko-KR" altLang="en-US"/>
          </a:p>
        </p:txBody>
      </p:sp>
    </p:spTree>
    <p:extLst>
      <p:ext uri="{BB962C8B-B14F-4D97-AF65-F5344CB8AC3E}">
        <p14:creationId xmlns:p14="http://schemas.microsoft.com/office/powerpoint/2010/main" val="4243868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A5504B90-27FD-422C-8CC6-2AADAD122D08}" type="slidenum">
              <a:rPr lang="ko-KR" altLang="en-US" smtClean="0"/>
              <a:pPr/>
              <a:t>12</a:t>
            </a:fld>
            <a:endParaRPr lang="ko-KR" altLang="en-US"/>
          </a:p>
        </p:txBody>
      </p:sp>
    </p:spTree>
    <p:extLst>
      <p:ext uri="{BB962C8B-B14F-4D97-AF65-F5344CB8AC3E}">
        <p14:creationId xmlns:p14="http://schemas.microsoft.com/office/powerpoint/2010/main" val="36748795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부제목 2"/>
          <p:cNvSpPr>
            <a:spLocks noGrp="1"/>
          </p:cNvSpPr>
          <p:nvPr>
            <p:ph type="subTitle" idx="1" hasCustomPrompt="1"/>
          </p:nvPr>
        </p:nvSpPr>
        <p:spPr>
          <a:xfrm>
            <a:off x="107504" y="1553872"/>
            <a:ext cx="8928992" cy="506976"/>
          </a:xfrm>
          <a:noFill/>
          <a:ln w="9525">
            <a:noFill/>
            <a:miter lim="800000"/>
            <a:headEnd/>
            <a:tailEnd/>
          </a:ln>
          <a:effectLst/>
        </p:spPr>
        <p:txBody>
          <a:bodyPr vert="horz" wrap="square" lIns="91440" tIns="45720" rIns="91440" bIns="45720" numCol="1" rtlCol="0" anchor="t" anchorCtr="0" compatLnSpc="1">
            <a:prstTxWarp prst="textNoShape">
              <a:avLst/>
            </a:prstTxWarp>
            <a:noAutofit/>
          </a:bodyPr>
          <a:lstStyle>
            <a:lvl1pPr marL="0" indent="0" algn="ctr" defTabSz="914400" rtl="0" eaLnBrk="1" fontAlgn="base" latinLnBrk="1" hangingPunct="1">
              <a:lnSpc>
                <a:spcPct val="100000"/>
              </a:lnSpc>
              <a:spcBef>
                <a:spcPct val="0"/>
              </a:spcBef>
              <a:spcAft>
                <a:spcPct val="0"/>
              </a:spcAft>
              <a:buClr>
                <a:schemeClr val="hlink"/>
              </a:buClr>
              <a:buFont typeface="굴림체" pitchFamily="49" charset="-127"/>
              <a:buNone/>
              <a:defRPr lang="ko-KR" altLang="en-US" sz="1200" kern="1200" baseline="0" dirty="0">
                <a:solidFill>
                  <a:srgbClr val="FFA200"/>
                </a:solidFill>
                <a:effectLst/>
                <a:latin typeface="+mj-lt"/>
                <a:ea typeface="맑은 고딕" panose="020B0503020000020004" pitchFamily="50" charset="-127"/>
                <a:cs typeface="+mj-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a:t>마스터 부제목 스타일 편집</a:t>
            </a:r>
          </a:p>
        </p:txBody>
      </p:sp>
      <p:sp>
        <p:nvSpPr>
          <p:cNvPr id="4" name="날짜 개체 틀 3"/>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2025-02-05</a:t>
            </a:fld>
            <a:endParaRPr lang="ko-KR" altLang="en-US"/>
          </a:p>
        </p:txBody>
      </p:sp>
      <p:sp>
        <p:nvSpPr>
          <p:cNvPr id="5" name="바닥글 개체 틀 4"/>
          <p:cNvSpPr>
            <a:spLocks noGrp="1"/>
          </p:cNvSpPr>
          <p:nvPr>
            <p:ph type="ftr" sz="quarter" idx="11"/>
          </p:nvPr>
        </p:nvSpPr>
        <p:spPr/>
        <p:txBody>
          <a:bodyPr/>
          <a:lstStyle>
            <a:lvl1pPr>
              <a:defRPr>
                <a:latin typeface="+mj-lt"/>
              </a:defRPr>
            </a:lvl1pPr>
          </a:lstStyle>
          <a:p>
            <a:endParaRPr lang="ko-KR" altLang="en-US"/>
          </a:p>
        </p:txBody>
      </p:sp>
      <p:sp>
        <p:nvSpPr>
          <p:cNvPr id="6" name="슬라이드 번호 개체 틀 5"/>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9" name="제목 1"/>
          <p:cNvSpPr>
            <a:spLocks noGrp="1"/>
          </p:cNvSpPr>
          <p:nvPr>
            <p:ph type="ctrTitle" hasCustomPrompt="1"/>
          </p:nvPr>
        </p:nvSpPr>
        <p:spPr>
          <a:xfrm>
            <a:off x="107504" y="564043"/>
            <a:ext cx="8928992" cy="1064758"/>
          </a:xfrm>
          <a:noFill/>
          <a:ln w="9525">
            <a:noFill/>
            <a:miter lim="800000"/>
            <a:headEnd/>
            <a:tailEnd/>
          </a:ln>
          <a:effectLst/>
        </p:spPr>
        <p:txBody>
          <a:bodyPr vert="horz" wrap="square" lIns="91440" tIns="45720" rIns="91440" bIns="45720" numCol="1" rtlCol="0" anchor="t" anchorCtr="0" compatLnSpc="1">
            <a:prstTxWarp prst="textNoShape">
              <a:avLst/>
            </a:prstTxWarp>
            <a:noAutofit/>
          </a:bodyPr>
          <a:lstStyle>
            <a:lvl1pPr marL="0" indent="0" algn="ctr" defTabSz="914400" rtl="0" eaLnBrk="1" fontAlgn="base" latinLnBrk="1" hangingPunct="1">
              <a:lnSpc>
                <a:spcPct val="100000"/>
              </a:lnSpc>
              <a:spcBef>
                <a:spcPct val="0"/>
              </a:spcBef>
              <a:spcAft>
                <a:spcPct val="0"/>
              </a:spcAft>
              <a:buClr>
                <a:schemeClr val="hlink"/>
              </a:buClr>
              <a:buFont typeface="굴림체" pitchFamily="49" charset="-127"/>
              <a:buNone/>
              <a:defRPr lang="ko-KR" altLang="en-US" sz="5400" kern="1200" baseline="0" dirty="0">
                <a:solidFill>
                  <a:schemeClr val="bg1"/>
                </a:solidFill>
                <a:effectLst/>
                <a:latin typeface="+mj-lt"/>
                <a:ea typeface="맑은 고딕" panose="020B0503020000020004" pitchFamily="50" charset="-127"/>
                <a:cs typeface="+mj-cs"/>
              </a:defRPr>
            </a:lvl1pPr>
          </a:lstStyle>
          <a:p>
            <a:r>
              <a:rPr lang="ko-KR" altLang="en-US" dirty="0"/>
              <a:t>제목을</a:t>
            </a:r>
            <a:r>
              <a:rPr lang="en-US" altLang="ko-KR" dirty="0"/>
              <a:t> </a:t>
            </a:r>
            <a:r>
              <a:rPr lang="ko-KR" altLang="en-US" dirty="0" err="1"/>
              <a:t>입력하시오</a:t>
            </a:r>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bg>
      <p:bgPr>
        <a:solidFill>
          <a:schemeClr val="bg1"/>
        </a:solidFill>
        <a:effectLst/>
      </p:bgPr>
    </p:bg>
    <p:spTree>
      <p:nvGrpSpPr>
        <p:cNvPr id="1" name=""/>
        <p:cNvGrpSpPr/>
        <p:nvPr/>
      </p:nvGrpSpPr>
      <p:grpSpPr>
        <a:xfrm>
          <a:off x="0" y="0"/>
          <a:ext cx="0" cy="0"/>
          <a:chOff x="0" y="0"/>
          <a:chExt cx="0" cy="0"/>
        </a:xfrm>
      </p:grpSpPr>
      <p:pic>
        <p:nvPicPr>
          <p:cNvPr id="6" name="그림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날짜 개체 틀 1"/>
          <p:cNvSpPr>
            <a:spLocks noGrp="1"/>
          </p:cNvSpPr>
          <p:nvPr>
            <p:ph type="dt" sz="half" idx="10"/>
          </p:nvPr>
        </p:nvSpPr>
        <p:spPr/>
        <p:txBody>
          <a:bodyPr/>
          <a:lstStyle/>
          <a:p>
            <a:fld id="{ED3D6733-6F27-4404-AB51-585418F146E5}" type="datetimeFigureOut">
              <a:rPr lang="ko-KR" altLang="en-US" smtClean="0"/>
              <a:pPr/>
              <a:t>2025-02-05</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bg>
      <p:bgPr>
        <a:solidFill>
          <a:schemeClr val="bg1"/>
        </a:solidFill>
        <a:effectLst/>
      </p:bgPr>
    </p:bg>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날짜 개체 틀 3"/>
          <p:cNvSpPr>
            <a:spLocks noGrp="1"/>
          </p:cNvSpPr>
          <p:nvPr>
            <p:ph type="dt" sz="half" idx="10"/>
          </p:nvPr>
        </p:nvSpPr>
        <p:spPr/>
        <p:txBody>
          <a:bodyPr/>
          <a:lstStyle/>
          <a:p>
            <a:fld id="{ED3D6733-6F27-4404-AB51-585418F146E5}" type="datetimeFigureOut">
              <a:rPr lang="ko-KR" altLang="en-US" smtClean="0"/>
              <a:pPr/>
              <a:t>2025-02-05</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bg>
      <p:bgPr>
        <a:solidFill>
          <a:schemeClr val="bg1"/>
        </a:solidFill>
        <a:effectLst/>
      </p:bgPr>
    </p:bg>
    <p:spTree>
      <p:nvGrpSpPr>
        <p:cNvPr id="1" name=""/>
        <p:cNvGrpSpPr/>
        <p:nvPr/>
      </p:nvGrpSpPr>
      <p:grpSpPr>
        <a:xfrm>
          <a:off x="0" y="0"/>
          <a:ext cx="0" cy="0"/>
          <a:chOff x="0" y="0"/>
          <a:chExt cx="0" cy="0"/>
        </a:xfrm>
      </p:grpSpPr>
      <p:pic>
        <p:nvPicPr>
          <p:cNvPr id="8" name="그림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제목 1"/>
          <p:cNvSpPr>
            <a:spLocks noGrp="1"/>
          </p:cNvSpPr>
          <p:nvPr>
            <p:ph type="title"/>
          </p:nvPr>
        </p:nvSpPr>
        <p:spPr>
          <a:xfrm>
            <a:off x="457200" y="86954"/>
            <a:ext cx="8229600" cy="796908"/>
          </a:xfrm>
        </p:spPr>
        <p:txBody>
          <a:bodyPr vert="horz" lIns="91440" tIns="45720" rIns="91440" bIns="45720" rtlCol="0" anchor="ctr">
            <a:normAutofit/>
          </a:bodyPr>
          <a:lstStyle>
            <a:lvl1pPr algn="l" defTabSz="914400" rtl="0" eaLnBrk="1" latinLnBrk="1" hangingPunct="1">
              <a:spcBef>
                <a:spcPct val="0"/>
              </a:spcBef>
              <a:buNone/>
              <a:defRPr lang="ko-KR" altLang="en-US" sz="3500" b="1" kern="1200" baseline="0" dirty="0">
                <a:solidFill>
                  <a:schemeClr val="bg1"/>
                </a:solidFill>
                <a:effectLst/>
                <a:latin typeface="+mj-lt"/>
                <a:ea typeface="맑은 고딕" panose="020B0503020000020004" pitchFamily="50" charset="-127"/>
                <a:cs typeface="+mj-cs"/>
              </a:defRPr>
            </a:lvl1pPr>
          </a:lstStyle>
          <a:p>
            <a:r>
              <a:rPr lang="ko-KR" altLang="en-US" dirty="0"/>
              <a:t>마스터 제목 스타일 편집</a:t>
            </a:r>
          </a:p>
        </p:txBody>
      </p:sp>
      <p:sp>
        <p:nvSpPr>
          <p:cNvPr id="3" name="날짜 개체 틀 2"/>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2025-02-05</a:t>
            </a:fld>
            <a:endParaRPr lang="ko-KR" altLang="en-US"/>
          </a:p>
        </p:txBody>
      </p:sp>
      <p:sp>
        <p:nvSpPr>
          <p:cNvPr id="4" name="바닥글 개체 틀 3"/>
          <p:cNvSpPr>
            <a:spLocks noGrp="1"/>
          </p:cNvSpPr>
          <p:nvPr>
            <p:ph type="ftr" sz="quarter" idx="11"/>
          </p:nvPr>
        </p:nvSpPr>
        <p:spPr/>
        <p:txBody>
          <a:bodyPr/>
          <a:lstStyle>
            <a:lvl1pPr>
              <a:defRPr>
                <a:latin typeface="+mj-lt"/>
              </a:defRPr>
            </a:lvl1pPr>
          </a:lstStyle>
          <a:p>
            <a:endParaRPr lang="ko-KR" altLang="en-US"/>
          </a:p>
        </p:txBody>
      </p:sp>
      <p:sp>
        <p:nvSpPr>
          <p:cNvPr id="5" name="슬라이드 번호 개체 틀 4"/>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6" name="내용 개체 틀 2"/>
          <p:cNvSpPr>
            <a:spLocks noGrp="1"/>
          </p:cNvSpPr>
          <p:nvPr>
            <p:ph idx="1" hasCustomPrompt="1"/>
          </p:nvPr>
        </p:nvSpPr>
        <p:spPr>
          <a:xfrm>
            <a:off x="457200" y="1268760"/>
            <a:ext cx="8229600" cy="5112568"/>
          </a:xfrm>
        </p:spPr>
        <p:txBody>
          <a:bodyPr>
            <a:normAutofit/>
          </a:bodyPr>
          <a:lstStyle>
            <a:lvl1pPr algn="l">
              <a:buNone/>
              <a:defRPr sz="2000" b="0" i="1" baseline="0">
                <a:solidFill>
                  <a:schemeClr val="tx1">
                    <a:lumMod val="95000"/>
                    <a:lumOff val="5000"/>
                  </a:schemeClr>
                </a:solidFill>
                <a:latin typeface="+mj-lt"/>
                <a:ea typeface="맑은 고딕" panose="020B0503020000020004" pitchFamily="50" charset="-127"/>
              </a:defRPr>
            </a:lvl1pPr>
            <a:lvl2pPr algn="l">
              <a:buNone/>
              <a:defRPr sz="2500" baseline="0">
                <a:solidFill>
                  <a:schemeClr val="tx1"/>
                </a:solidFill>
                <a:latin typeface="Noto Sans" panose="020B0502040504020204" pitchFamily="34" charset="0"/>
                <a:ea typeface="맑은 고딕" panose="020B0503020000020004" pitchFamily="50" charset="-127"/>
              </a:defRPr>
            </a:lvl2pPr>
            <a:lvl3pPr algn="l">
              <a:buNone/>
              <a:defRPr sz="2500" baseline="0">
                <a:solidFill>
                  <a:schemeClr val="tx1"/>
                </a:solidFill>
                <a:latin typeface="Noto Sans" panose="020B0502040504020204" pitchFamily="34" charset="0"/>
                <a:ea typeface="맑은 고딕" panose="020B0503020000020004" pitchFamily="50" charset="-127"/>
              </a:defRPr>
            </a:lvl3pPr>
            <a:lvl4pPr algn="l">
              <a:buNone/>
              <a:defRPr sz="2500" baseline="0">
                <a:solidFill>
                  <a:schemeClr val="tx1"/>
                </a:solidFill>
                <a:latin typeface="Noto Sans" panose="020B0502040504020204" pitchFamily="34" charset="0"/>
                <a:ea typeface="맑은 고딕" panose="020B0503020000020004" pitchFamily="50" charset="-127"/>
              </a:defRPr>
            </a:lvl4pPr>
            <a:lvl5pPr algn="l">
              <a:buNone/>
              <a:defRPr sz="2500" baseline="0">
                <a:solidFill>
                  <a:schemeClr val="tx1"/>
                </a:solidFill>
                <a:latin typeface="Noto Sans" panose="020B0502040504020204" pitchFamily="34" charset="0"/>
                <a:ea typeface="맑은 고딕" panose="020B0503020000020004" pitchFamily="50" charset="-127"/>
              </a:defRPr>
            </a:lvl5pPr>
          </a:lstStyle>
          <a:p>
            <a:pPr lvl="0"/>
            <a:r>
              <a:rPr lang="en-US" altLang="ko-KR" dirty="0"/>
              <a:t>Replaced with your own text</a:t>
            </a:r>
            <a:endParaRPr lang="ko-KR"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및 내용">
    <p:bg>
      <p:bgPr>
        <a:solidFill>
          <a:schemeClr val="bg1"/>
        </a:solidFill>
        <a:effectLst/>
      </p:bgPr>
    </p:bg>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날짜 개체 틀 3"/>
          <p:cNvSpPr>
            <a:spLocks noGrp="1"/>
          </p:cNvSpPr>
          <p:nvPr>
            <p:ph type="dt" sz="half" idx="10"/>
          </p:nvPr>
        </p:nvSpPr>
        <p:spPr>
          <a:xfrm>
            <a:off x="457200" y="6500834"/>
            <a:ext cx="2133600" cy="220641"/>
          </a:xfrm>
        </p:spPr>
        <p:txBody>
          <a:bodyPr/>
          <a:lstStyle>
            <a:lvl1pPr>
              <a:defRPr>
                <a:latin typeface="+mj-lt"/>
              </a:defRPr>
            </a:lvl1pPr>
          </a:lstStyle>
          <a:p>
            <a:fld id="{ED3D6733-6F27-4404-AB51-585418F146E5}" type="datetimeFigureOut">
              <a:rPr lang="ko-KR" altLang="en-US" smtClean="0"/>
              <a:pPr/>
              <a:t>2025-02-05</a:t>
            </a:fld>
            <a:endParaRPr lang="ko-KR" altLang="en-US"/>
          </a:p>
        </p:txBody>
      </p:sp>
      <p:sp>
        <p:nvSpPr>
          <p:cNvPr id="5" name="바닥글 개체 틀 4"/>
          <p:cNvSpPr>
            <a:spLocks noGrp="1"/>
          </p:cNvSpPr>
          <p:nvPr>
            <p:ph type="ftr" sz="quarter" idx="11"/>
          </p:nvPr>
        </p:nvSpPr>
        <p:spPr>
          <a:xfrm>
            <a:off x="3124200" y="6500834"/>
            <a:ext cx="2895600" cy="220641"/>
          </a:xfrm>
        </p:spPr>
        <p:txBody>
          <a:bodyPr/>
          <a:lstStyle>
            <a:lvl1pPr>
              <a:defRPr>
                <a:latin typeface="+mj-lt"/>
              </a:defRPr>
            </a:lvl1pPr>
          </a:lstStyle>
          <a:p>
            <a:endParaRPr lang="ko-KR" altLang="en-US"/>
          </a:p>
        </p:txBody>
      </p:sp>
      <p:sp>
        <p:nvSpPr>
          <p:cNvPr id="6" name="슬라이드 번호 개체 틀 5"/>
          <p:cNvSpPr>
            <a:spLocks noGrp="1"/>
          </p:cNvSpPr>
          <p:nvPr>
            <p:ph type="sldNum" sz="quarter" idx="12"/>
          </p:nvPr>
        </p:nvSpPr>
        <p:spPr>
          <a:xfrm>
            <a:off x="6553200" y="6500834"/>
            <a:ext cx="2133600" cy="220641"/>
          </a:xfrm>
        </p:spPr>
        <p:txBody>
          <a:bodyPr/>
          <a:lstStyle>
            <a:lvl1pPr>
              <a:defRPr>
                <a:latin typeface="+mj-lt"/>
              </a:defRPr>
            </a:lvl1pPr>
          </a:lstStyle>
          <a:p>
            <a:fld id="{EE6BC638-39B7-4287-91A7-2A3DDA573295}" type="slidenum">
              <a:rPr lang="ko-KR" altLang="en-US" smtClean="0"/>
              <a:pPr/>
              <a:t>‹#›</a:t>
            </a:fld>
            <a:endParaRPr lang="ko-KR" altLang="en-US"/>
          </a:p>
        </p:txBody>
      </p:sp>
      <p:sp>
        <p:nvSpPr>
          <p:cNvPr id="14" name="제목 1"/>
          <p:cNvSpPr>
            <a:spLocks noGrp="1"/>
          </p:cNvSpPr>
          <p:nvPr>
            <p:ph type="title"/>
          </p:nvPr>
        </p:nvSpPr>
        <p:spPr>
          <a:xfrm>
            <a:off x="457200" y="86954"/>
            <a:ext cx="8229600" cy="796908"/>
          </a:xfrm>
        </p:spPr>
        <p:txBody>
          <a:bodyPr vert="horz" lIns="91440" tIns="45720" rIns="91440" bIns="45720" rtlCol="0" anchor="ctr">
            <a:normAutofit/>
          </a:bodyPr>
          <a:lstStyle>
            <a:lvl1pPr algn="l" defTabSz="914400" rtl="0" eaLnBrk="1" latinLnBrk="1" hangingPunct="1">
              <a:spcBef>
                <a:spcPct val="0"/>
              </a:spcBef>
              <a:buNone/>
              <a:defRPr lang="ko-KR" altLang="en-US" sz="3500" b="1" kern="1200" baseline="0" dirty="0">
                <a:solidFill>
                  <a:schemeClr val="tx1">
                    <a:lumMod val="95000"/>
                    <a:lumOff val="5000"/>
                  </a:schemeClr>
                </a:solidFill>
                <a:effectLst/>
                <a:latin typeface="+mj-lt"/>
                <a:ea typeface="맑은 고딕" panose="020B0503020000020004" pitchFamily="50" charset="-127"/>
                <a:cs typeface="+mj-cs"/>
              </a:defRPr>
            </a:lvl1pPr>
          </a:lstStyle>
          <a:p>
            <a:r>
              <a:rPr lang="ko-KR" altLang="en-US" dirty="0"/>
              <a:t>마스터 제목 스타일 편집</a:t>
            </a:r>
          </a:p>
        </p:txBody>
      </p:sp>
      <p:sp>
        <p:nvSpPr>
          <p:cNvPr id="15" name="내용 개체 틀 2"/>
          <p:cNvSpPr>
            <a:spLocks noGrp="1"/>
          </p:cNvSpPr>
          <p:nvPr>
            <p:ph idx="1" hasCustomPrompt="1"/>
          </p:nvPr>
        </p:nvSpPr>
        <p:spPr>
          <a:xfrm>
            <a:off x="457200" y="1268760"/>
            <a:ext cx="8229600" cy="5112568"/>
          </a:xfrm>
        </p:spPr>
        <p:txBody>
          <a:bodyPr>
            <a:normAutofit/>
          </a:bodyPr>
          <a:lstStyle>
            <a:lvl1pPr algn="l">
              <a:buNone/>
              <a:defRPr sz="2000" i="1" baseline="0">
                <a:solidFill>
                  <a:schemeClr val="tx1">
                    <a:lumMod val="95000"/>
                    <a:lumOff val="5000"/>
                  </a:schemeClr>
                </a:solidFill>
                <a:latin typeface="+mj-lt"/>
                <a:ea typeface="맑은 고딕" panose="020B0503020000020004" pitchFamily="50" charset="-127"/>
              </a:defRPr>
            </a:lvl1pPr>
            <a:lvl2pPr algn="l">
              <a:buNone/>
              <a:defRPr sz="2500" baseline="0">
                <a:solidFill>
                  <a:schemeClr val="tx1"/>
                </a:solidFill>
                <a:latin typeface="Noto Sans" panose="020B0502040504020204" pitchFamily="34" charset="0"/>
                <a:ea typeface="맑은 고딕" panose="020B0503020000020004" pitchFamily="50" charset="-127"/>
              </a:defRPr>
            </a:lvl2pPr>
            <a:lvl3pPr algn="l">
              <a:buNone/>
              <a:defRPr sz="2500" baseline="0">
                <a:solidFill>
                  <a:schemeClr val="tx1"/>
                </a:solidFill>
                <a:latin typeface="Noto Sans" panose="020B0502040504020204" pitchFamily="34" charset="0"/>
                <a:ea typeface="맑은 고딕" panose="020B0503020000020004" pitchFamily="50" charset="-127"/>
              </a:defRPr>
            </a:lvl3pPr>
            <a:lvl4pPr algn="l">
              <a:buNone/>
              <a:defRPr sz="2500" baseline="0">
                <a:solidFill>
                  <a:schemeClr val="tx1"/>
                </a:solidFill>
                <a:latin typeface="Noto Sans" panose="020B0502040504020204" pitchFamily="34" charset="0"/>
                <a:ea typeface="맑은 고딕" panose="020B0503020000020004" pitchFamily="50" charset="-127"/>
              </a:defRPr>
            </a:lvl4pPr>
            <a:lvl5pPr algn="l">
              <a:buNone/>
              <a:defRPr sz="2500" baseline="0">
                <a:solidFill>
                  <a:schemeClr val="tx1"/>
                </a:solidFill>
                <a:latin typeface="Noto Sans" panose="020B0502040504020204" pitchFamily="34" charset="0"/>
                <a:ea typeface="맑은 고딕" panose="020B0503020000020004" pitchFamily="50" charset="-127"/>
              </a:defRPr>
            </a:lvl5pPr>
          </a:lstStyle>
          <a:p>
            <a:pPr lvl="0"/>
            <a:r>
              <a:rPr lang="en-US" altLang="ko-KR" dirty="0"/>
              <a:t>Replaced with your own text</a:t>
            </a:r>
            <a:endParaRPr lang="ko-KR"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bg>
      <p:bgPr>
        <a:solidFill>
          <a:schemeClr val="bg1"/>
        </a:solidFill>
        <a:effectLst/>
      </p:bgPr>
    </p:bg>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날짜 개체 틀 2"/>
          <p:cNvSpPr>
            <a:spLocks noGrp="1"/>
          </p:cNvSpPr>
          <p:nvPr>
            <p:ph type="dt" sz="half" idx="10"/>
          </p:nvPr>
        </p:nvSpPr>
        <p:spPr/>
        <p:txBody>
          <a:bodyPr/>
          <a:lstStyle/>
          <a:p>
            <a:fld id="{ED3D6733-6F27-4404-AB51-585418F146E5}" type="datetimeFigureOut">
              <a:rPr lang="ko-KR" altLang="en-US" smtClean="0"/>
              <a:pPr/>
              <a:t>2025-02-05</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EE6BC638-39B7-4287-91A7-2A3DDA573295}" type="slidenum">
              <a:rPr lang="ko-KR" altLang="en-US" smtClean="0"/>
              <a:pPr/>
              <a:t>‹#›</a:t>
            </a:fld>
            <a:endParaRPr lang="ko-KR" altLang="en-US"/>
          </a:p>
        </p:txBody>
      </p:sp>
      <p:sp>
        <p:nvSpPr>
          <p:cNvPr id="6" name="제목 1"/>
          <p:cNvSpPr>
            <a:spLocks noGrp="1"/>
          </p:cNvSpPr>
          <p:nvPr>
            <p:ph type="ctrTitle"/>
          </p:nvPr>
        </p:nvSpPr>
        <p:spPr>
          <a:xfrm>
            <a:off x="755576" y="908720"/>
            <a:ext cx="4289648" cy="2376264"/>
          </a:xfrm>
          <a:noFill/>
          <a:ln w="9525">
            <a:noFill/>
            <a:miter lim="800000"/>
            <a:headEnd/>
            <a:tailEnd/>
          </a:ln>
          <a:effectLst/>
        </p:spPr>
        <p:txBody>
          <a:bodyPr vert="horz" wrap="square" lIns="91440" tIns="45720" rIns="91440" bIns="45720" numCol="1" rtlCol="0" anchor="t" anchorCtr="0" compatLnSpc="1">
            <a:prstTxWarp prst="textNoShape">
              <a:avLst/>
            </a:prstTxWarp>
            <a:noAutofit/>
          </a:bodyPr>
          <a:lstStyle>
            <a:lvl1pPr marL="0" indent="0" algn="ctr" defTabSz="914400" rtl="0" eaLnBrk="1" fontAlgn="base" latinLnBrk="1" hangingPunct="1">
              <a:lnSpc>
                <a:spcPct val="100000"/>
              </a:lnSpc>
              <a:spcBef>
                <a:spcPct val="0"/>
              </a:spcBef>
              <a:spcAft>
                <a:spcPct val="0"/>
              </a:spcAft>
              <a:buClr>
                <a:schemeClr val="hlink"/>
              </a:buClr>
              <a:buFont typeface="굴림체" pitchFamily="49" charset="-127"/>
              <a:buNone/>
              <a:defRPr lang="ko-KR" altLang="en-US" sz="7200" b="0" kern="1200" baseline="0" dirty="0">
                <a:solidFill>
                  <a:schemeClr val="bg1"/>
                </a:solidFill>
                <a:effectLst/>
                <a:latin typeface="+mj-lt"/>
                <a:ea typeface="맑은 고딕" panose="020B0503020000020004" pitchFamily="50" charset="-127"/>
                <a:cs typeface="+mj-cs"/>
              </a:defRPr>
            </a:lvl1pPr>
          </a:lstStyle>
          <a:p>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19026"/>
            <a:ext cx="8229600" cy="796908"/>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062021"/>
            <a:ext cx="8229600" cy="5286412"/>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457200" y="6429396"/>
            <a:ext cx="2133600" cy="292079"/>
          </a:xfrm>
          <a:prstGeom prst="rect">
            <a:avLst/>
          </a:prstGeom>
        </p:spPr>
        <p:txBody>
          <a:bodyPr vert="horz" lIns="91440" tIns="45720" rIns="91440" bIns="45720" rtlCol="0" anchor="ctr"/>
          <a:lstStyle>
            <a:lvl1pPr algn="l">
              <a:defRPr sz="1200">
                <a:solidFill>
                  <a:schemeClr val="tx1">
                    <a:tint val="75000"/>
                  </a:schemeClr>
                </a:solidFill>
              </a:defRPr>
            </a:lvl1pPr>
          </a:lstStyle>
          <a:p>
            <a:fld id="{ED3D6733-6F27-4404-AB51-585418F146E5}" type="datetimeFigureOut">
              <a:rPr lang="ko-KR" altLang="en-US" smtClean="0"/>
              <a:pPr/>
              <a:t>2025-02-05</a:t>
            </a:fld>
            <a:endParaRPr lang="ko-KR" altLang="en-US"/>
          </a:p>
        </p:txBody>
      </p:sp>
      <p:sp>
        <p:nvSpPr>
          <p:cNvPr id="5" name="바닥글 개체 틀 4"/>
          <p:cNvSpPr>
            <a:spLocks noGrp="1"/>
          </p:cNvSpPr>
          <p:nvPr>
            <p:ph type="ftr" sz="quarter" idx="3"/>
          </p:nvPr>
        </p:nvSpPr>
        <p:spPr>
          <a:xfrm>
            <a:off x="3124200" y="6429396"/>
            <a:ext cx="2895600" cy="29207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429396"/>
            <a:ext cx="2133600" cy="292079"/>
          </a:xfrm>
          <a:prstGeom prst="rect">
            <a:avLst/>
          </a:prstGeom>
        </p:spPr>
        <p:txBody>
          <a:bodyPr vert="horz" lIns="91440" tIns="45720" rIns="91440" bIns="45720" rtlCol="0" anchor="ctr"/>
          <a:lstStyle>
            <a:lvl1pPr algn="r">
              <a:defRPr sz="1200">
                <a:solidFill>
                  <a:schemeClr val="tx1">
                    <a:tint val="75000"/>
                  </a:schemeClr>
                </a:solidFill>
              </a:defRPr>
            </a:lvl1pPr>
          </a:lstStyle>
          <a:p>
            <a:fld id="{EE6BC638-39B7-4287-91A7-2A3DDA573295}"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5" r:id="rId2"/>
    <p:sldLayoutId id="2147483651" r:id="rId3"/>
    <p:sldLayoutId id="2147483656" r:id="rId4"/>
    <p:sldLayoutId id="2147483650" r:id="rId5"/>
    <p:sldLayoutId id="2147483657" r:id="rId6"/>
  </p:sldLayoutIdLst>
  <p:txStyles>
    <p:titleStyle>
      <a:lvl1pPr algn="l" defTabSz="914400" rtl="0" eaLnBrk="1" latinLnBrk="1" hangingPunct="1">
        <a:spcBef>
          <a:spcPct val="0"/>
        </a:spcBef>
        <a:buNone/>
        <a:defRPr lang="ko-KR" altLang="en-US" sz="3500" kern="1200">
          <a:solidFill>
            <a:sysClr val="windowText" lastClr="000000"/>
          </a:solidFill>
          <a:latin typeface="맑은 고딕" panose="020B0503020000020004" pitchFamily="50" charset="-127"/>
          <a:ea typeface="맑은 고딕" panose="020B0503020000020004" pitchFamily="50" charset="-127"/>
          <a:cs typeface="+mj-cs"/>
        </a:defRPr>
      </a:lvl1pPr>
    </p:titleStyle>
    <p:bodyStyle>
      <a:lvl1pPr marL="342900" indent="-342900" algn="l" defTabSz="914400" rtl="0" eaLnBrk="1" latinLnBrk="1" hangingPunct="1">
        <a:spcBef>
          <a:spcPct val="20000"/>
        </a:spcBef>
        <a:buFont typeface="Arial" pitchFamily="34" charset="0"/>
        <a:buChar char="•"/>
        <a:defRPr lang="ko-KR" altLang="en-US" sz="2500" kern="1200" smtClean="0">
          <a:solidFill>
            <a:schemeClr val="tx1"/>
          </a:solidFill>
          <a:latin typeface="맑은 고딕" panose="020B0503020000020004" pitchFamily="50" charset="-127"/>
          <a:ea typeface="맑은 고딕" panose="020B0503020000020004" pitchFamily="50" charset="-127"/>
          <a:cs typeface="+mn-cs"/>
        </a:defRPr>
      </a:lvl1pPr>
      <a:lvl2pPr marL="742950" indent="-285750" algn="l" defTabSz="914400" rtl="0" eaLnBrk="1" latinLnBrk="1" hangingPunct="1">
        <a:spcBef>
          <a:spcPct val="20000"/>
        </a:spcBef>
        <a:buFont typeface="Arial" pitchFamily="34" charset="0"/>
        <a:buChar char="–"/>
        <a:defRPr lang="ko-KR" altLang="en-US" sz="1800" kern="1200" smtClean="0">
          <a:solidFill>
            <a:schemeClr val="tx1"/>
          </a:solidFill>
          <a:latin typeface="맑은 고딕" panose="020B0503020000020004" pitchFamily="50" charset="-127"/>
          <a:ea typeface="맑은 고딕" panose="020B0503020000020004" pitchFamily="50" charset="-127"/>
          <a:cs typeface="+mn-cs"/>
        </a:defRPr>
      </a:lvl2pPr>
      <a:lvl3pPr marL="11430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anose="020B0503020000020004" pitchFamily="50" charset="-127"/>
          <a:ea typeface="맑은 고딕" panose="020B0503020000020004" pitchFamily="50" charset="-127"/>
          <a:cs typeface="+mn-cs"/>
        </a:defRPr>
      </a:lvl3pPr>
      <a:lvl4pPr marL="16002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anose="020B0503020000020004" pitchFamily="50" charset="-127"/>
          <a:ea typeface="맑은 고딕" panose="020B0503020000020004" pitchFamily="50" charset="-127"/>
          <a:cs typeface="+mn-cs"/>
        </a:defRPr>
      </a:lvl4pPr>
      <a:lvl5pPr marL="2057400" indent="-228600" algn="l" defTabSz="914400" rtl="0" eaLnBrk="1" latinLnBrk="1" hangingPunct="1">
        <a:spcBef>
          <a:spcPct val="20000"/>
        </a:spcBef>
        <a:buFont typeface="Arial" pitchFamily="34" charset="0"/>
        <a:buChar char="»"/>
        <a:defRPr lang="ko-KR" altLang="en-US" sz="1800" kern="1200">
          <a:solidFill>
            <a:schemeClr val="tx1"/>
          </a:solidFill>
          <a:latin typeface="맑은 고딕" panose="020B0503020000020004" pitchFamily="50" charset="-127"/>
          <a:ea typeface="맑은 고딕" panose="020B0503020000020004"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제목 6"/>
          <p:cNvSpPr>
            <a:spLocks noGrp="1"/>
          </p:cNvSpPr>
          <p:nvPr>
            <p:ph type="ctrTitle"/>
          </p:nvPr>
        </p:nvSpPr>
        <p:spPr/>
        <p:txBody>
          <a:bodyPr/>
          <a:lstStyle/>
          <a:p>
            <a:pPr algn="l"/>
            <a:r>
              <a:rPr lang="en-US" altLang="ko-KR" b="1" dirty="0">
                <a:solidFill>
                  <a:srgbClr val="FFA200"/>
                </a:solidFill>
              </a:rPr>
              <a:t>MAXIMIZING </a:t>
            </a:r>
            <a:r>
              <a:rPr lang="en-US" altLang="ko-KR" dirty="0"/>
              <a:t>REVENUE FOR DRIVERS</a:t>
            </a:r>
            <a:endParaRPr lang="ko-KR" altLang="en-US" b="1" dirty="0">
              <a:solidFill>
                <a:srgbClr val="FFA200"/>
              </a:solidFill>
            </a:endParaRPr>
          </a:p>
        </p:txBody>
      </p:sp>
      <p:grpSp>
        <p:nvGrpSpPr>
          <p:cNvPr id="11" name="그룹 10"/>
          <p:cNvGrpSpPr/>
          <p:nvPr/>
        </p:nvGrpSpPr>
        <p:grpSpPr>
          <a:xfrm>
            <a:off x="298922" y="3264815"/>
            <a:ext cx="193219" cy="194413"/>
            <a:chOff x="3776663" y="2306638"/>
            <a:chExt cx="257175" cy="258763"/>
          </a:xfrm>
          <a:solidFill>
            <a:srgbClr val="624FAB"/>
          </a:solidFill>
        </p:grpSpPr>
        <p:sp>
          <p:nvSpPr>
            <p:cNvPr id="12" name="Freeform 148"/>
            <p:cNvSpPr>
              <a:spLocks noEditPoints="1"/>
            </p:cNvSpPr>
            <p:nvPr/>
          </p:nvSpPr>
          <p:spPr bwMode="auto">
            <a:xfrm>
              <a:off x="3776663" y="2306638"/>
              <a:ext cx="257175" cy="258763"/>
            </a:xfrm>
            <a:custGeom>
              <a:avLst/>
              <a:gdLst>
                <a:gd name="T0" fmla="*/ 250 w 501"/>
                <a:gd name="T1" fmla="*/ 482 h 501"/>
                <a:gd name="T2" fmla="*/ 19 w 501"/>
                <a:gd name="T3" fmla="*/ 250 h 501"/>
                <a:gd name="T4" fmla="*/ 250 w 501"/>
                <a:gd name="T5" fmla="*/ 19 h 501"/>
                <a:gd name="T6" fmla="*/ 482 w 501"/>
                <a:gd name="T7" fmla="*/ 250 h 501"/>
                <a:gd name="T8" fmla="*/ 250 w 501"/>
                <a:gd name="T9" fmla="*/ 482 h 501"/>
                <a:gd name="T10" fmla="*/ 250 w 501"/>
                <a:gd name="T11" fmla="*/ 0 h 501"/>
                <a:gd name="T12" fmla="*/ 0 w 501"/>
                <a:gd name="T13" fmla="*/ 250 h 501"/>
                <a:gd name="T14" fmla="*/ 250 w 501"/>
                <a:gd name="T15" fmla="*/ 501 h 501"/>
                <a:gd name="T16" fmla="*/ 501 w 501"/>
                <a:gd name="T17" fmla="*/ 250 h 501"/>
                <a:gd name="T18" fmla="*/ 250 w 501"/>
                <a:gd name="T19" fmla="*/ 0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1" h="501">
                  <a:moveTo>
                    <a:pt x="250" y="482"/>
                  </a:moveTo>
                  <a:cubicBezTo>
                    <a:pt x="123" y="482"/>
                    <a:pt x="19" y="378"/>
                    <a:pt x="19" y="250"/>
                  </a:cubicBezTo>
                  <a:cubicBezTo>
                    <a:pt x="19" y="123"/>
                    <a:pt x="123" y="19"/>
                    <a:pt x="250" y="19"/>
                  </a:cubicBezTo>
                  <a:cubicBezTo>
                    <a:pt x="378" y="19"/>
                    <a:pt x="482" y="123"/>
                    <a:pt x="482" y="250"/>
                  </a:cubicBezTo>
                  <a:cubicBezTo>
                    <a:pt x="482" y="378"/>
                    <a:pt x="378" y="482"/>
                    <a:pt x="250" y="482"/>
                  </a:cubicBezTo>
                  <a:close/>
                  <a:moveTo>
                    <a:pt x="250" y="0"/>
                  </a:moveTo>
                  <a:cubicBezTo>
                    <a:pt x="112" y="0"/>
                    <a:pt x="0" y="112"/>
                    <a:pt x="0" y="250"/>
                  </a:cubicBezTo>
                  <a:cubicBezTo>
                    <a:pt x="0" y="389"/>
                    <a:pt x="112" y="501"/>
                    <a:pt x="250" y="501"/>
                  </a:cubicBezTo>
                  <a:cubicBezTo>
                    <a:pt x="388" y="501"/>
                    <a:pt x="501" y="389"/>
                    <a:pt x="501" y="250"/>
                  </a:cubicBezTo>
                  <a:cubicBezTo>
                    <a:pt x="501" y="112"/>
                    <a:pt x="388" y="0"/>
                    <a:pt x="2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3" name="Freeform 149"/>
            <p:cNvSpPr>
              <a:spLocks/>
            </p:cNvSpPr>
            <p:nvPr/>
          </p:nvSpPr>
          <p:spPr bwMode="auto">
            <a:xfrm>
              <a:off x="3835401" y="2381251"/>
              <a:ext cx="139700" cy="100013"/>
            </a:xfrm>
            <a:custGeom>
              <a:avLst/>
              <a:gdLst>
                <a:gd name="T0" fmla="*/ 254 w 272"/>
                <a:gd name="T1" fmla="*/ 5 h 194"/>
                <a:gd name="T2" fmla="*/ 106 w 272"/>
                <a:gd name="T3" fmla="*/ 171 h 194"/>
                <a:gd name="T4" fmla="*/ 17 w 272"/>
                <a:gd name="T5" fmla="*/ 100 h 194"/>
                <a:gd name="T6" fmla="*/ 4 w 272"/>
                <a:gd name="T7" fmla="*/ 101 h 194"/>
                <a:gd name="T8" fmla="*/ 5 w 272"/>
                <a:gd name="T9" fmla="*/ 115 h 194"/>
                <a:gd name="T10" fmla="*/ 101 w 272"/>
                <a:gd name="T11" fmla="*/ 192 h 194"/>
                <a:gd name="T12" fmla="*/ 107 w 272"/>
                <a:gd name="T13" fmla="*/ 194 h 194"/>
                <a:gd name="T14" fmla="*/ 115 w 272"/>
                <a:gd name="T15" fmla="*/ 191 h 194"/>
                <a:gd name="T16" fmla="*/ 269 w 272"/>
                <a:gd name="T17" fmla="*/ 17 h 194"/>
                <a:gd name="T18" fmla="*/ 268 w 272"/>
                <a:gd name="T19" fmla="*/ 4 h 194"/>
                <a:gd name="T20" fmla="*/ 254 w 272"/>
                <a:gd name="T21" fmla="*/ 5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194">
                  <a:moveTo>
                    <a:pt x="254" y="5"/>
                  </a:moveTo>
                  <a:lnTo>
                    <a:pt x="106" y="171"/>
                  </a:lnTo>
                  <a:lnTo>
                    <a:pt x="17" y="100"/>
                  </a:lnTo>
                  <a:cubicBezTo>
                    <a:pt x="13" y="97"/>
                    <a:pt x="7" y="97"/>
                    <a:pt x="4" y="101"/>
                  </a:cubicBezTo>
                  <a:cubicBezTo>
                    <a:pt x="0" y="106"/>
                    <a:pt x="1" y="112"/>
                    <a:pt x="5" y="115"/>
                  </a:cubicBezTo>
                  <a:lnTo>
                    <a:pt x="101" y="192"/>
                  </a:lnTo>
                  <a:cubicBezTo>
                    <a:pt x="103" y="193"/>
                    <a:pt x="105" y="194"/>
                    <a:pt x="107" y="194"/>
                  </a:cubicBezTo>
                  <a:cubicBezTo>
                    <a:pt x="110" y="194"/>
                    <a:pt x="113" y="193"/>
                    <a:pt x="115" y="191"/>
                  </a:cubicBezTo>
                  <a:lnTo>
                    <a:pt x="269" y="17"/>
                  </a:lnTo>
                  <a:cubicBezTo>
                    <a:pt x="272" y="13"/>
                    <a:pt x="272" y="7"/>
                    <a:pt x="268" y="4"/>
                  </a:cubicBezTo>
                  <a:cubicBezTo>
                    <a:pt x="264" y="0"/>
                    <a:pt x="258" y="1"/>
                    <a:pt x="25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5" name="부제목 4"/>
          <p:cNvSpPr>
            <a:spLocks noGrp="1"/>
          </p:cNvSpPr>
          <p:nvPr>
            <p:ph type="subTitle" idx="1"/>
          </p:nvPr>
        </p:nvSpPr>
        <p:spPr>
          <a:xfrm>
            <a:off x="2771800" y="1844824"/>
            <a:ext cx="4824536" cy="506976"/>
          </a:xfrm>
        </p:spPr>
        <p:txBody>
          <a:bodyPr/>
          <a:lstStyle/>
          <a:p>
            <a:pPr algn="l"/>
            <a:r>
              <a:rPr lang="en-US" altLang="ko-KR" dirty="0"/>
              <a:t>Through Payment Type</a:t>
            </a:r>
            <a:endParaRPr lang="ko-KR" altLang="en-US" dirty="0"/>
          </a:p>
        </p:txBody>
      </p:sp>
    </p:spTree>
    <p:extLst>
      <p:ext uri="{BB962C8B-B14F-4D97-AF65-F5344CB8AC3E}">
        <p14:creationId xmlns:p14="http://schemas.microsoft.com/office/powerpoint/2010/main" val="516379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TextBox 56"/>
          <p:cNvSpPr txBox="1"/>
          <p:nvPr/>
        </p:nvSpPr>
        <p:spPr>
          <a:xfrm>
            <a:off x="5508104" y="1096987"/>
            <a:ext cx="3240360" cy="769441"/>
          </a:xfrm>
          <a:prstGeom prst="rect">
            <a:avLst/>
          </a:prstGeom>
          <a:noFill/>
        </p:spPr>
        <p:txBody>
          <a:bodyPr wrap="square" rtlCol="0">
            <a:spAutoFit/>
          </a:bodyPr>
          <a:lstStyle/>
          <a:p>
            <a:pPr algn="ctr"/>
            <a:r>
              <a:rPr lang="en-US" altLang="ko-KR" sz="4400" b="1" dirty="0">
                <a:solidFill>
                  <a:srgbClr val="FFA200"/>
                </a:solidFill>
                <a:latin typeface="+mj-lt"/>
                <a:ea typeface="맑은 고딕" panose="020B0503020000020004" pitchFamily="50" charset="-127"/>
              </a:rPr>
              <a:t>AGENDA</a:t>
            </a:r>
            <a:endParaRPr lang="ko-KR" altLang="en-US" sz="4400" b="1" dirty="0">
              <a:solidFill>
                <a:srgbClr val="FFA200"/>
              </a:solidFill>
              <a:latin typeface="+mj-lt"/>
              <a:ea typeface="맑은 고딕" panose="020B0503020000020004" pitchFamily="50" charset="-127"/>
            </a:endParaRPr>
          </a:p>
        </p:txBody>
      </p:sp>
      <p:grpSp>
        <p:nvGrpSpPr>
          <p:cNvPr id="4" name="그룹 3"/>
          <p:cNvGrpSpPr/>
          <p:nvPr/>
        </p:nvGrpSpPr>
        <p:grpSpPr>
          <a:xfrm>
            <a:off x="5577368" y="716323"/>
            <a:ext cx="298268" cy="199284"/>
            <a:chOff x="-1620688" y="2063274"/>
            <a:chExt cx="996901" cy="666065"/>
          </a:xfrm>
        </p:grpSpPr>
        <p:sp>
          <p:nvSpPr>
            <p:cNvPr id="3" name="직사각형 2"/>
            <p:cNvSpPr/>
            <p:nvPr/>
          </p:nvSpPr>
          <p:spPr>
            <a:xfrm>
              <a:off x="-1289496" y="2063274"/>
              <a:ext cx="331192" cy="33119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j-lt"/>
              </a:endParaRPr>
            </a:p>
          </p:txBody>
        </p:sp>
        <p:sp>
          <p:nvSpPr>
            <p:cNvPr id="21" name="직사각형 20"/>
            <p:cNvSpPr/>
            <p:nvPr/>
          </p:nvSpPr>
          <p:spPr>
            <a:xfrm>
              <a:off x="-1620688" y="2398147"/>
              <a:ext cx="331192" cy="331192"/>
            </a:xfrm>
            <a:prstGeom prst="rect">
              <a:avLst/>
            </a:prstGeom>
            <a:solidFill>
              <a:srgbClr val="FFA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j-lt"/>
              </a:endParaRPr>
            </a:p>
          </p:txBody>
        </p:sp>
        <p:sp>
          <p:nvSpPr>
            <p:cNvPr id="22" name="직사각형 21"/>
            <p:cNvSpPr/>
            <p:nvPr/>
          </p:nvSpPr>
          <p:spPr>
            <a:xfrm>
              <a:off x="-954979" y="2398147"/>
              <a:ext cx="331192" cy="331192"/>
            </a:xfrm>
            <a:prstGeom prst="rect">
              <a:avLst/>
            </a:prstGeom>
            <a:solidFill>
              <a:srgbClr val="FFA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j-lt"/>
              </a:endParaRPr>
            </a:p>
          </p:txBody>
        </p:sp>
      </p:grpSp>
      <p:sp>
        <p:nvSpPr>
          <p:cNvPr id="23" name="Text Box 5"/>
          <p:cNvSpPr txBox="1">
            <a:spLocks noChangeArrowheads="1"/>
          </p:cNvSpPr>
          <p:nvPr/>
        </p:nvSpPr>
        <p:spPr bwMode="auto">
          <a:xfrm>
            <a:off x="5796136" y="2276872"/>
            <a:ext cx="3356656" cy="3048207"/>
          </a:xfrm>
          <a:prstGeom prst="rect">
            <a:avLst/>
          </a:prstGeom>
          <a:noFill/>
          <a:ln w="9525">
            <a:noFill/>
            <a:miter lim="800000"/>
            <a:headEnd/>
            <a:tailEnd/>
          </a:ln>
        </p:spPr>
        <p:txBody>
          <a:bodyPr wrap="square">
            <a:spAutoFit/>
          </a:bodyPr>
          <a:lstStyle/>
          <a:p>
            <a:pPr marL="342900" indent="-342900">
              <a:lnSpc>
                <a:spcPct val="200000"/>
              </a:lnSpc>
              <a:buAutoNum type="arabicPlain"/>
              <a:defRPr/>
            </a:pPr>
            <a:r>
              <a:rPr lang="en-US" altLang="ko-KR" sz="1400" b="1" dirty="0">
                <a:solidFill>
                  <a:schemeClr val="bg1"/>
                </a:solidFill>
                <a:latin typeface="+mj-lt"/>
              </a:rPr>
              <a:t>Problem Statement</a:t>
            </a:r>
          </a:p>
          <a:p>
            <a:pPr marL="342900" indent="-342900">
              <a:lnSpc>
                <a:spcPct val="200000"/>
              </a:lnSpc>
              <a:buAutoNum type="arabicPlain"/>
              <a:defRPr/>
            </a:pPr>
            <a:r>
              <a:rPr lang="en-US" altLang="ko-KR" sz="1400" b="1" dirty="0">
                <a:solidFill>
                  <a:schemeClr val="bg1"/>
                </a:solidFill>
                <a:latin typeface="+mj-lt"/>
              </a:rPr>
              <a:t>Research Question </a:t>
            </a:r>
          </a:p>
          <a:p>
            <a:pPr marL="342900" indent="-342900">
              <a:lnSpc>
                <a:spcPct val="200000"/>
              </a:lnSpc>
              <a:buAutoNum type="arabicPlain"/>
              <a:defRPr/>
            </a:pPr>
            <a:r>
              <a:rPr lang="en-US" altLang="ko-KR" sz="1400" b="1" dirty="0">
                <a:solidFill>
                  <a:schemeClr val="bg1"/>
                </a:solidFill>
                <a:latin typeface="+mj-lt"/>
              </a:rPr>
              <a:t>Data Overview</a:t>
            </a:r>
          </a:p>
          <a:p>
            <a:pPr marL="342900" indent="-342900">
              <a:lnSpc>
                <a:spcPct val="200000"/>
              </a:lnSpc>
              <a:buAutoNum type="arabicPlain"/>
              <a:defRPr/>
            </a:pPr>
            <a:r>
              <a:rPr lang="en-US" altLang="ko-KR" sz="1400" b="1" dirty="0">
                <a:solidFill>
                  <a:schemeClr val="bg1"/>
                </a:solidFill>
                <a:latin typeface="+mj-lt"/>
              </a:rPr>
              <a:t>Methodology</a:t>
            </a:r>
          </a:p>
          <a:p>
            <a:pPr marL="342900" indent="-342900">
              <a:lnSpc>
                <a:spcPct val="200000"/>
              </a:lnSpc>
              <a:buAutoNum type="arabicPlain"/>
              <a:defRPr/>
            </a:pPr>
            <a:r>
              <a:rPr lang="en-US" altLang="ko-KR" sz="1400" b="1" dirty="0">
                <a:solidFill>
                  <a:schemeClr val="bg1"/>
                </a:solidFill>
                <a:latin typeface="+mj-lt"/>
              </a:rPr>
              <a:t>Analysis and Findings</a:t>
            </a:r>
          </a:p>
          <a:p>
            <a:pPr marL="342900" indent="-342900">
              <a:lnSpc>
                <a:spcPct val="200000"/>
              </a:lnSpc>
              <a:buAutoNum type="arabicPlain"/>
              <a:defRPr/>
            </a:pPr>
            <a:r>
              <a:rPr lang="en-US" altLang="ko-KR" sz="1400" b="1" dirty="0">
                <a:solidFill>
                  <a:schemeClr val="bg1"/>
                </a:solidFill>
                <a:latin typeface="+mj-lt"/>
              </a:rPr>
              <a:t>Hypothesis Testing</a:t>
            </a:r>
          </a:p>
          <a:p>
            <a:pPr marL="342900" indent="-342900">
              <a:lnSpc>
                <a:spcPct val="200000"/>
              </a:lnSpc>
              <a:buAutoNum type="arabicPlain"/>
              <a:defRPr/>
            </a:pPr>
            <a:r>
              <a:rPr lang="en-US" altLang="ko-KR" sz="1400" b="1" dirty="0">
                <a:solidFill>
                  <a:schemeClr val="bg1"/>
                </a:solidFill>
                <a:latin typeface="+mj-lt"/>
              </a:rPr>
              <a:t>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206571" y="0"/>
            <a:ext cx="4730858" cy="6858000"/>
          </a:xfrm>
          <a:prstGeom prst="rect">
            <a:avLst/>
          </a:prstGeom>
          <a:solidFill>
            <a:srgbClr val="CE8707">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j-lt"/>
            </a:endParaRPr>
          </a:p>
        </p:txBody>
      </p:sp>
      <p:sp>
        <p:nvSpPr>
          <p:cNvPr id="15" name="Text Box 5">
            <a:extLst>
              <a:ext uri="{FF2B5EF4-FFF2-40B4-BE49-F238E27FC236}">
                <a16:creationId xmlns:a16="http://schemas.microsoft.com/office/drawing/2014/main" id="{4F5A027A-DE3B-4D3A-872F-4D969A3DFC7A}"/>
              </a:ext>
            </a:extLst>
          </p:cNvPr>
          <p:cNvSpPr txBox="1">
            <a:spLocks noChangeArrowheads="1"/>
          </p:cNvSpPr>
          <p:nvPr/>
        </p:nvSpPr>
        <p:spPr bwMode="auto">
          <a:xfrm>
            <a:off x="2181295" y="332656"/>
            <a:ext cx="4672467" cy="5232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lvl="0" algn="ctr" fontAlgn="base">
              <a:spcBef>
                <a:spcPct val="0"/>
              </a:spcBef>
              <a:spcAft>
                <a:spcPct val="0"/>
              </a:spcAft>
            </a:pPr>
            <a:r>
              <a:rPr kumimoji="1" lang="en-US" altLang="ko-KR" sz="2800" b="1" dirty="0">
                <a:solidFill>
                  <a:schemeClr val="bg1"/>
                </a:solidFill>
                <a:latin typeface="+mj-lt"/>
                <a:cs typeface="굴림" pitchFamily="50" charset="-127"/>
              </a:rPr>
              <a:t>Problem Statement</a:t>
            </a:r>
          </a:p>
        </p:txBody>
      </p:sp>
      <p:sp>
        <p:nvSpPr>
          <p:cNvPr id="16" name="Text Box 9"/>
          <p:cNvSpPr txBox="1">
            <a:spLocks noChangeArrowheads="1"/>
          </p:cNvSpPr>
          <p:nvPr/>
        </p:nvSpPr>
        <p:spPr bwMode="auto">
          <a:xfrm>
            <a:off x="827584" y="836712"/>
            <a:ext cx="7488832" cy="41996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fontAlgn="base">
              <a:lnSpc>
                <a:spcPct val="150000"/>
              </a:lnSpc>
              <a:spcBef>
                <a:spcPct val="0"/>
              </a:spcBef>
              <a:spcAft>
                <a:spcPct val="0"/>
              </a:spcAft>
            </a:pPr>
            <a:r>
              <a:rPr kumimoji="1" lang="en-US" altLang="ko-KR" sz="2000" dirty="0">
                <a:solidFill>
                  <a:schemeClr val="bg1"/>
                </a:solidFill>
                <a:latin typeface="+mj-lt"/>
                <a:cs typeface="굴림" pitchFamily="50" charset="-127"/>
              </a:rPr>
              <a:t>In the faced-paced taxi booking sector, making the most out of revenue is essential for long term success </a:t>
            </a:r>
            <a:r>
              <a:rPr kumimoji="1" lang="en-US" altLang="ko-KR" sz="2000" dirty="0" err="1">
                <a:solidFill>
                  <a:schemeClr val="bg1"/>
                </a:solidFill>
                <a:latin typeface="+mj-lt"/>
                <a:cs typeface="굴림" pitchFamily="50" charset="-127"/>
              </a:rPr>
              <a:t>success</a:t>
            </a:r>
            <a:r>
              <a:rPr kumimoji="1" lang="en-US" altLang="ko-KR" sz="2000" dirty="0">
                <a:solidFill>
                  <a:schemeClr val="bg1"/>
                </a:solidFill>
                <a:latin typeface="+mj-lt"/>
                <a:cs typeface="굴림" pitchFamily="50" charset="-127"/>
              </a:rPr>
              <a:t> and driver happiness.</a:t>
            </a:r>
          </a:p>
          <a:p>
            <a:pPr fontAlgn="base">
              <a:lnSpc>
                <a:spcPct val="150000"/>
              </a:lnSpc>
              <a:spcBef>
                <a:spcPct val="0"/>
              </a:spcBef>
              <a:spcAft>
                <a:spcPct val="0"/>
              </a:spcAft>
            </a:pPr>
            <a:endParaRPr kumimoji="1" lang="en-US" altLang="ko-KR" sz="2000" dirty="0">
              <a:solidFill>
                <a:schemeClr val="bg1"/>
              </a:solidFill>
              <a:latin typeface="+mj-lt"/>
              <a:cs typeface="굴림" pitchFamily="50" charset="-127"/>
            </a:endParaRPr>
          </a:p>
          <a:p>
            <a:pPr fontAlgn="base">
              <a:lnSpc>
                <a:spcPct val="150000"/>
              </a:lnSpc>
              <a:spcBef>
                <a:spcPct val="0"/>
              </a:spcBef>
              <a:spcAft>
                <a:spcPct val="0"/>
              </a:spcAft>
            </a:pPr>
            <a:r>
              <a:rPr kumimoji="1" lang="en-US" altLang="ko-KR" sz="2000" dirty="0">
                <a:solidFill>
                  <a:schemeClr val="bg1"/>
                </a:solidFill>
                <a:latin typeface="+mj-lt"/>
                <a:cs typeface="굴림" pitchFamily="50" charset="-127"/>
              </a:rPr>
              <a:t>Our goal is to use data-driven insights to </a:t>
            </a:r>
            <a:r>
              <a:rPr kumimoji="1" lang="en-US" altLang="ko-KR" sz="2000" b="1" dirty="0">
                <a:solidFill>
                  <a:schemeClr val="bg1"/>
                </a:solidFill>
                <a:latin typeface="+mj-lt"/>
                <a:cs typeface="굴림" pitchFamily="50" charset="-127"/>
              </a:rPr>
              <a:t>maximize revenue streams</a:t>
            </a:r>
            <a:r>
              <a:rPr kumimoji="1" lang="en-US" altLang="ko-KR" sz="2000" dirty="0">
                <a:solidFill>
                  <a:schemeClr val="bg1"/>
                </a:solidFill>
                <a:latin typeface="+mj-lt"/>
                <a:cs typeface="굴림" pitchFamily="50" charset="-127"/>
              </a:rPr>
              <a:t> for taxi drivers in order to meet this need. Our research aims to determine whether payment methods have an impact on fare pricing by focusing on the relationship between payment type and fare amount.</a:t>
            </a:r>
          </a:p>
        </p:txBody>
      </p:sp>
    </p:spTree>
    <p:extLst>
      <p:ext uri="{BB962C8B-B14F-4D97-AF65-F5344CB8AC3E}">
        <p14:creationId xmlns:p14="http://schemas.microsoft.com/office/powerpoint/2010/main" val="3768647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7248A-463A-8EEF-E7CD-6F7FD12055B9}"/>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2305FDF2-9689-9BCF-4F57-7920F187CFAE}"/>
              </a:ext>
            </a:extLst>
          </p:cNvPr>
          <p:cNvSpPr/>
          <p:nvPr/>
        </p:nvSpPr>
        <p:spPr>
          <a:xfrm>
            <a:off x="2206571" y="0"/>
            <a:ext cx="4730858" cy="6858000"/>
          </a:xfrm>
          <a:prstGeom prst="rect">
            <a:avLst/>
          </a:prstGeom>
          <a:solidFill>
            <a:srgbClr val="CE8707">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j-lt"/>
            </a:endParaRPr>
          </a:p>
        </p:txBody>
      </p:sp>
      <p:sp>
        <p:nvSpPr>
          <p:cNvPr id="15" name="Text Box 5">
            <a:extLst>
              <a:ext uri="{FF2B5EF4-FFF2-40B4-BE49-F238E27FC236}">
                <a16:creationId xmlns:a16="http://schemas.microsoft.com/office/drawing/2014/main" id="{A242D9EC-9B1A-716F-E4B4-CC632116EFB6}"/>
              </a:ext>
            </a:extLst>
          </p:cNvPr>
          <p:cNvSpPr txBox="1">
            <a:spLocks noChangeArrowheads="1"/>
          </p:cNvSpPr>
          <p:nvPr/>
        </p:nvSpPr>
        <p:spPr bwMode="auto">
          <a:xfrm>
            <a:off x="2181295" y="332656"/>
            <a:ext cx="4672467" cy="5232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lvl="0" algn="ctr" fontAlgn="base">
              <a:spcBef>
                <a:spcPct val="0"/>
              </a:spcBef>
              <a:spcAft>
                <a:spcPct val="0"/>
              </a:spcAft>
            </a:pPr>
            <a:r>
              <a:rPr kumimoji="1" lang="en-US" altLang="ko-KR" sz="2800" b="1" dirty="0">
                <a:solidFill>
                  <a:schemeClr val="bg1"/>
                </a:solidFill>
                <a:latin typeface="+mj-lt"/>
                <a:cs typeface="굴림" pitchFamily="50" charset="-127"/>
              </a:rPr>
              <a:t>Research Question</a:t>
            </a:r>
          </a:p>
        </p:txBody>
      </p:sp>
      <p:sp>
        <p:nvSpPr>
          <p:cNvPr id="16" name="Text Box 9">
            <a:extLst>
              <a:ext uri="{FF2B5EF4-FFF2-40B4-BE49-F238E27FC236}">
                <a16:creationId xmlns:a16="http://schemas.microsoft.com/office/drawing/2014/main" id="{82D2244B-51C4-4165-803A-98B2BC0C30A9}"/>
              </a:ext>
            </a:extLst>
          </p:cNvPr>
          <p:cNvSpPr txBox="1">
            <a:spLocks noChangeArrowheads="1"/>
          </p:cNvSpPr>
          <p:nvPr/>
        </p:nvSpPr>
        <p:spPr bwMode="auto">
          <a:xfrm>
            <a:off x="1187624" y="836712"/>
            <a:ext cx="6768752" cy="281461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fontAlgn="base">
              <a:lnSpc>
                <a:spcPct val="150000"/>
              </a:lnSpc>
              <a:spcBef>
                <a:spcPct val="0"/>
              </a:spcBef>
              <a:spcAft>
                <a:spcPct val="0"/>
              </a:spcAft>
            </a:pPr>
            <a:r>
              <a:rPr kumimoji="1" lang="en-US" altLang="ko-KR" sz="2000" b="1" dirty="0">
                <a:solidFill>
                  <a:schemeClr val="bg1"/>
                </a:solidFill>
                <a:latin typeface="+mj-lt"/>
                <a:cs typeface="굴림" pitchFamily="50" charset="-127"/>
              </a:rPr>
              <a:t>Is there a relationship between total fare amount and payment type ?</a:t>
            </a:r>
          </a:p>
          <a:p>
            <a:pPr fontAlgn="base">
              <a:lnSpc>
                <a:spcPct val="150000"/>
              </a:lnSpc>
              <a:spcBef>
                <a:spcPct val="0"/>
              </a:spcBef>
              <a:spcAft>
                <a:spcPct val="0"/>
              </a:spcAft>
            </a:pPr>
            <a:endParaRPr kumimoji="1" lang="en-US" altLang="ko-KR" sz="2000" dirty="0">
              <a:solidFill>
                <a:schemeClr val="bg1"/>
              </a:solidFill>
              <a:latin typeface="+mj-lt"/>
              <a:cs typeface="굴림" pitchFamily="50" charset="-127"/>
            </a:endParaRPr>
          </a:p>
          <a:p>
            <a:pPr fontAlgn="base">
              <a:lnSpc>
                <a:spcPct val="150000"/>
              </a:lnSpc>
              <a:spcBef>
                <a:spcPct val="0"/>
              </a:spcBef>
              <a:spcAft>
                <a:spcPct val="0"/>
              </a:spcAft>
            </a:pPr>
            <a:r>
              <a:rPr kumimoji="1" lang="en-US" altLang="ko-KR" sz="2000" dirty="0">
                <a:solidFill>
                  <a:schemeClr val="bg1"/>
                </a:solidFill>
                <a:latin typeface="+mj-lt"/>
                <a:cs typeface="굴림" pitchFamily="50" charset="-127"/>
              </a:rPr>
              <a:t>Can we nudge customers towards payment methods that generate higher revenue for drivers, without negatively impacting customer experience ?</a:t>
            </a:r>
          </a:p>
        </p:txBody>
      </p:sp>
    </p:spTree>
    <p:extLst>
      <p:ext uri="{BB962C8B-B14F-4D97-AF65-F5344CB8AC3E}">
        <p14:creationId xmlns:p14="http://schemas.microsoft.com/office/powerpoint/2010/main" val="1418968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내용 개체 틀 36"/>
          <p:cNvSpPr>
            <a:spLocks noGrp="1"/>
          </p:cNvSpPr>
          <p:nvPr>
            <p:ph idx="1"/>
          </p:nvPr>
        </p:nvSpPr>
        <p:spPr/>
        <p:txBody>
          <a:bodyPr/>
          <a:lstStyle/>
          <a:p>
            <a:pPr lvl="0"/>
            <a:r>
              <a:rPr lang="en-US" altLang="ko-KR" dirty="0"/>
              <a:t>For this analysis, we utilized the comprehension dataset of NYC Taxi Trip records, used data cleaning and feature engineering procedures to concentrate solely on relevant columns essential for our investigation. </a:t>
            </a:r>
          </a:p>
          <a:p>
            <a:pPr lvl="0"/>
            <a:endParaRPr lang="en-US" altLang="ko-KR" dirty="0"/>
          </a:p>
        </p:txBody>
      </p:sp>
      <p:sp>
        <p:nvSpPr>
          <p:cNvPr id="3" name="제목 2"/>
          <p:cNvSpPr>
            <a:spLocks noGrp="1"/>
          </p:cNvSpPr>
          <p:nvPr>
            <p:ph type="title"/>
          </p:nvPr>
        </p:nvSpPr>
        <p:spPr/>
        <p:txBody>
          <a:bodyPr/>
          <a:lstStyle/>
          <a:p>
            <a:r>
              <a:rPr lang="en-US" altLang="ko-KR" dirty="0"/>
              <a:t>Data Overview</a:t>
            </a:r>
            <a:endParaRPr lang="ko-KR" altLang="en-US" dirty="0"/>
          </a:p>
        </p:txBody>
      </p:sp>
      <p:grpSp>
        <p:nvGrpSpPr>
          <p:cNvPr id="4" name="그룹 3"/>
          <p:cNvGrpSpPr/>
          <p:nvPr/>
        </p:nvGrpSpPr>
        <p:grpSpPr>
          <a:xfrm rot="5400000">
            <a:off x="172376" y="385766"/>
            <a:ext cx="298268" cy="199284"/>
            <a:chOff x="-1620688" y="2063274"/>
            <a:chExt cx="996901" cy="666065"/>
          </a:xfrm>
        </p:grpSpPr>
        <p:sp>
          <p:nvSpPr>
            <p:cNvPr id="5" name="직사각형 4"/>
            <p:cNvSpPr/>
            <p:nvPr/>
          </p:nvSpPr>
          <p:spPr>
            <a:xfrm>
              <a:off x="-1289496" y="2063274"/>
              <a:ext cx="331192" cy="33119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p:cNvSpPr/>
            <p:nvPr/>
          </p:nvSpPr>
          <p:spPr>
            <a:xfrm>
              <a:off x="-1620688" y="2398147"/>
              <a:ext cx="331192" cy="331192"/>
            </a:xfrm>
            <a:prstGeom prst="rect">
              <a:avLst/>
            </a:prstGeom>
            <a:solidFill>
              <a:srgbClr val="FFA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p:cNvSpPr/>
            <p:nvPr/>
          </p:nvSpPr>
          <p:spPr>
            <a:xfrm>
              <a:off x="-954979" y="2398147"/>
              <a:ext cx="331192" cy="331192"/>
            </a:xfrm>
            <a:prstGeom prst="rect">
              <a:avLst/>
            </a:prstGeom>
            <a:solidFill>
              <a:srgbClr val="FFA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8" name="Picture 7">
            <a:extLst>
              <a:ext uri="{FF2B5EF4-FFF2-40B4-BE49-F238E27FC236}">
                <a16:creationId xmlns:a16="http://schemas.microsoft.com/office/drawing/2014/main" id="{0AEA55A4-4308-8FEC-44D6-CB5A653233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5896" y="2947571"/>
            <a:ext cx="5335451" cy="2334260"/>
          </a:xfrm>
          <a:prstGeom prst="rect">
            <a:avLst/>
          </a:prstGeom>
        </p:spPr>
      </p:pic>
      <p:sp>
        <p:nvSpPr>
          <p:cNvPr id="9" name="TextBox 8">
            <a:extLst>
              <a:ext uri="{FF2B5EF4-FFF2-40B4-BE49-F238E27FC236}">
                <a16:creationId xmlns:a16="http://schemas.microsoft.com/office/drawing/2014/main" id="{D72D8135-1CD8-F04A-9889-D0C83280E091}"/>
              </a:ext>
            </a:extLst>
          </p:cNvPr>
          <p:cNvSpPr txBox="1"/>
          <p:nvPr/>
        </p:nvSpPr>
        <p:spPr>
          <a:xfrm>
            <a:off x="417608" y="2947571"/>
            <a:ext cx="3523466" cy="2031325"/>
          </a:xfrm>
          <a:prstGeom prst="rect">
            <a:avLst/>
          </a:prstGeom>
          <a:noFill/>
        </p:spPr>
        <p:txBody>
          <a:bodyPr wrap="square" rtlCol="0">
            <a:spAutoFit/>
          </a:bodyPr>
          <a:lstStyle/>
          <a:p>
            <a:pPr lvl="0"/>
            <a:r>
              <a:rPr lang="en-US" altLang="ko-KR" dirty="0"/>
              <a:t>Relevant columns used for this research:</a:t>
            </a:r>
          </a:p>
          <a:p>
            <a:pPr marL="457200" lvl="0" indent="-457200">
              <a:buAutoNum type="arabicPeriod"/>
            </a:pPr>
            <a:r>
              <a:rPr lang="en-US" altLang="ko-KR" dirty="0" err="1"/>
              <a:t>passenger_count</a:t>
            </a:r>
            <a:r>
              <a:rPr lang="en-US" altLang="ko-KR" dirty="0"/>
              <a:t> ( 1 to 5 )</a:t>
            </a:r>
          </a:p>
          <a:p>
            <a:pPr marL="457200" lvl="0" indent="-457200">
              <a:buAutoNum type="arabicPeriod"/>
            </a:pPr>
            <a:r>
              <a:rPr lang="en-US" altLang="ko-KR" dirty="0" err="1"/>
              <a:t>payment_type</a:t>
            </a:r>
            <a:r>
              <a:rPr lang="en-US" altLang="ko-KR" dirty="0"/>
              <a:t> (card or cash)</a:t>
            </a:r>
          </a:p>
          <a:p>
            <a:pPr marL="457200" lvl="0" indent="-457200">
              <a:buAutoNum type="arabicPeriod"/>
            </a:pPr>
            <a:r>
              <a:rPr lang="en-US" altLang="ko-KR" dirty="0" err="1"/>
              <a:t>fare_amount</a:t>
            </a:r>
            <a:endParaRPr lang="en-US" altLang="ko-KR" dirty="0"/>
          </a:p>
          <a:p>
            <a:pPr marL="457200" lvl="0" indent="-457200">
              <a:buAutoNum type="arabicPeriod"/>
            </a:pPr>
            <a:r>
              <a:rPr lang="en-US" altLang="ko-KR" dirty="0" err="1"/>
              <a:t>trip_distance</a:t>
            </a:r>
            <a:r>
              <a:rPr lang="en-US" altLang="ko-KR" dirty="0"/>
              <a:t> (miles)</a:t>
            </a:r>
          </a:p>
          <a:p>
            <a:pPr marL="457200" lvl="0" indent="-457200">
              <a:buAutoNum type="arabicPeriod"/>
            </a:pPr>
            <a:r>
              <a:rPr lang="en-US" altLang="ko-KR" dirty="0"/>
              <a:t>duration (minutes)</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제목 3"/>
          <p:cNvSpPr>
            <a:spLocks noGrp="1"/>
          </p:cNvSpPr>
          <p:nvPr>
            <p:ph type="title"/>
          </p:nvPr>
        </p:nvSpPr>
        <p:spPr/>
        <p:txBody>
          <a:bodyPr/>
          <a:lstStyle/>
          <a:p>
            <a:r>
              <a:rPr lang="en-US" altLang="ko-KR" dirty="0"/>
              <a:t>Methodology</a:t>
            </a:r>
            <a:endParaRPr lang="ko-KR" altLang="en-US" dirty="0"/>
          </a:p>
        </p:txBody>
      </p:sp>
      <p:graphicFrame>
        <p:nvGraphicFramePr>
          <p:cNvPr id="2" name="Table 1">
            <a:extLst>
              <a:ext uri="{FF2B5EF4-FFF2-40B4-BE49-F238E27FC236}">
                <a16:creationId xmlns:a16="http://schemas.microsoft.com/office/drawing/2014/main" id="{4683A987-0A32-B9DD-D6D3-477F0793ABF4}"/>
              </a:ext>
            </a:extLst>
          </p:cNvPr>
          <p:cNvGraphicFramePr>
            <a:graphicFrameLocks noGrp="1"/>
          </p:cNvGraphicFramePr>
          <p:nvPr>
            <p:extLst>
              <p:ext uri="{D42A27DB-BD31-4B8C-83A1-F6EECF244321}">
                <p14:modId xmlns:p14="http://schemas.microsoft.com/office/powerpoint/2010/main" val="2125652442"/>
              </p:ext>
            </p:extLst>
          </p:nvPr>
        </p:nvGraphicFramePr>
        <p:xfrm>
          <a:off x="457200" y="1397000"/>
          <a:ext cx="8229600" cy="4533536"/>
        </p:xfrm>
        <a:graphic>
          <a:graphicData uri="http://schemas.openxmlformats.org/drawingml/2006/table">
            <a:tbl>
              <a:tblPr firstRow="1" bandRow="1">
                <a:tableStyleId>{93296810-A885-4BE3-A3E7-6D5BEEA58F35}</a:tableStyleId>
              </a:tblPr>
              <a:tblGrid>
                <a:gridCol w="2386608">
                  <a:extLst>
                    <a:ext uri="{9D8B030D-6E8A-4147-A177-3AD203B41FA5}">
                      <a16:colId xmlns:a16="http://schemas.microsoft.com/office/drawing/2014/main" val="69595748"/>
                    </a:ext>
                  </a:extLst>
                </a:gridCol>
                <a:gridCol w="5842992">
                  <a:extLst>
                    <a:ext uri="{9D8B030D-6E8A-4147-A177-3AD203B41FA5}">
                      <a16:colId xmlns:a16="http://schemas.microsoft.com/office/drawing/2014/main" val="3737508747"/>
                    </a:ext>
                  </a:extLst>
                </a:gridCol>
              </a:tblGrid>
              <a:tr h="1133384">
                <a:tc>
                  <a:txBody>
                    <a:bodyPr/>
                    <a:lstStyle/>
                    <a:p>
                      <a:r>
                        <a:rPr lang="en-US" dirty="0"/>
                        <a:t>Step</a:t>
                      </a:r>
                    </a:p>
                  </a:txBody>
                  <a:tcPr/>
                </a:tc>
                <a:tc>
                  <a:txBody>
                    <a:bodyPr/>
                    <a:lstStyle/>
                    <a:p>
                      <a:r>
                        <a:rPr lang="en-US" dirty="0"/>
                        <a:t>Description</a:t>
                      </a:r>
                    </a:p>
                  </a:txBody>
                  <a:tcPr/>
                </a:tc>
                <a:extLst>
                  <a:ext uri="{0D108BD9-81ED-4DB2-BD59-A6C34878D82A}">
                    <a16:rowId xmlns:a16="http://schemas.microsoft.com/office/drawing/2014/main" val="4222370517"/>
                  </a:ext>
                </a:extLst>
              </a:tr>
              <a:tr h="1133384">
                <a:tc>
                  <a:txBody>
                    <a:bodyPr/>
                    <a:lstStyle/>
                    <a:p>
                      <a:r>
                        <a:rPr lang="en-US" dirty="0"/>
                        <a:t>Descriptive Analysis</a:t>
                      </a:r>
                    </a:p>
                  </a:txBody>
                  <a:tcPr/>
                </a:tc>
                <a:tc>
                  <a:txBody>
                    <a:bodyPr/>
                    <a:lstStyle/>
                    <a:p>
                      <a:r>
                        <a:rPr lang="en-US" dirty="0"/>
                        <a:t>Performed statistical analysis to summarize key aspects of       data, focusing on fare amount and payment type. </a:t>
                      </a:r>
                    </a:p>
                  </a:txBody>
                  <a:tcPr/>
                </a:tc>
                <a:extLst>
                  <a:ext uri="{0D108BD9-81ED-4DB2-BD59-A6C34878D82A}">
                    <a16:rowId xmlns:a16="http://schemas.microsoft.com/office/drawing/2014/main" val="4094599276"/>
                  </a:ext>
                </a:extLst>
              </a:tr>
              <a:tr h="1133384">
                <a:tc>
                  <a:txBody>
                    <a:bodyPr/>
                    <a:lstStyle/>
                    <a:p>
                      <a:r>
                        <a:rPr lang="en-US" dirty="0"/>
                        <a:t>Hypothesis Testing</a:t>
                      </a:r>
                    </a:p>
                  </a:txBody>
                  <a:tcPr/>
                </a:tc>
                <a:tc>
                  <a:txBody>
                    <a:bodyPr/>
                    <a:lstStyle/>
                    <a:p>
                      <a:r>
                        <a:rPr lang="en-US" dirty="0"/>
                        <a:t>Conducted a T-test to evaluate the relationship between payment type and fare amount, testing hypothesis that different payment methods influence fare amounts.</a:t>
                      </a:r>
                    </a:p>
                  </a:txBody>
                  <a:tcPr/>
                </a:tc>
                <a:extLst>
                  <a:ext uri="{0D108BD9-81ED-4DB2-BD59-A6C34878D82A}">
                    <a16:rowId xmlns:a16="http://schemas.microsoft.com/office/drawing/2014/main" val="3557991771"/>
                  </a:ext>
                </a:extLst>
              </a:tr>
              <a:tr h="1133384">
                <a:tc>
                  <a:txBody>
                    <a:bodyPr/>
                    <a:lstStyle/>
                    <a:p>
                      <a:r>
                        <a:rPr lang="en-US" dirty="0"/>
                        <a:t>Regression Analysis</a:t>
                      </a:r>
                    </a:p>
                  </a:txBody>
                  <a:tcPr/>
                </a:tc>
                <a:tc>
                  <a:txBody>
                    <a:bodyPr/>
                    <a:lstStyle/>
                    <a:p>
                      <a:r>
                        <a:rPr lang="en-US" dirty="0"/>
                        <a:t>Implemented linear regression to explore the relationship between trip duration (calculated from pickup and drop-off) and fare amount. </a:t>
                      </a:r>
                    </a:p>
                  </a:txBody>
                  <a:tcPr/>
                </a:tc>
                <a:extLst>
                  <a:ext uri="{0D108BD9-81ED-4DB2-BD59-A6C34878D82A}">
                    <a16:rowId xmlns:a16="http://schemas.microsoft.com/office/drawing/2014/main" val="301312715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768B13-0CA2-E2B1-8F23-32A6CA953DB8}"/>
            </a:ext>
          </a:extLst>
        </p:cNvPr>
        <p:cNvGrpSpPr/>
        <p:nvPr/>
      </p:nvGrpSpPr>
      <p:grpSpPr>
        <a:xfrm>
          <a:off x="0" y="0"/>
          <a:ext cx="0" cy="0"/>
          <a:chOff x="0" y="0"/>
          <a:chExt cx="0" cy="0"/>
        </a:xfrm>
      </p:grpSpPr>
      <p:sp>
        <p:nvSpPr>
          <p:cNvPr id="6" name="내용 개체 틀 5">
            <a:extLst>
              <a:ext uri="{FF2B5EF4-FFF2-40B4-BE49-F238E27FC236}">
                <a16:creationId xmlns:a16="http://schemas.microsoft.com/office/drawing/2014/main" id="{B761F90C-A846-7C17-6ECC-197C6E9EA5A7}"/>
              </a:ext>
            </a:extLst>
          </p:cNvPr>
          <p:cNvSpPr>
            <a:spLocks noGrp="1"/>
          </p:cNvSpPr>
          <p:nvPr>
            <p:ph idx="1"/>
          </p:nvPr>
        </p:nvSpPr>
        <p:spPr/>
        <p:txBody>
          <a:bodyPr/>
          <a:lstStyle/>
          <a:p>
            <a:pPr>
              <a:buFont typeface="Arial" panose="020B0604020202020204" pitchFamily="34" charset="0"/>
              <a:buChar char="•"/>
            </a:pPr>
            <a:r>
              <a:rPr lang="en-US" altLang="ko-KR" dirty="0"/>
              <a:t>Customer paying with cards tend to have a slightly higher average trip distance and fare amount compared to those paying with cash.</a:t>
            </a:r>
          </a:p>
          <a:p>
            <a:pPr>
              <a:buFont typeface="Arial" panose="020B0604020202020204" pitchFamily="34" charset="0"/>
              <a:buChar char="•"/>
            </a:pPr>
            <a:r>
              <a:rPr lang="en-US" altLang="ko-KR" dirty="0"/>
              <a:t>Indicates that customers prefers to pay more with cards when they have high fare amount and long trip distance.</a:t>
            </a:r>
          </a:p>
          <a:p>
            <a:pPr>
              <a:buFont typeface="Arial" panose="020B0604020202020204" pitchFamily="34" charset="0"/>
              <a:buChar char="•"/>
            </a:pPr>
            <a:endParaRPr lang="en-US" altLang="ko-KR" dirty="0"/>
          </a:p>
          <a:p>
            <a:pPr marL="0" indent="0"/>
            <a:endParaRPr lang="ko-KR" altLang="en-US" dirty="0"/>
          </a:p>
        </p:txBody>
      </p:sp>
      <p:sp>
        <p:nvSpPr>
          <p:cNvPr id="4" name="제목 3">
            <a:extLst>
              <a:ext uri="{FF2B5EF4-FFF2-40B4-BE49-F238E27FC236}">
                <a16:creationId xmlns:a16="http://schemas.microsoft.com/office/drawing/2014/main" id="{6CE6E3D6-9300-35B9-AF2D-0A67114FBF48}"/>
              </a:ext>
            </a:extLst>
          </p:cNvPr>
          <p:cNvSpPr>
            <a:spLocks noGrp="1"/>
          </p:cNvSpPr>
          <p:nvPr>
            <p:ph type="title"/>
          </p:nvPr>
        </p:nvSpPr>
        <p:spPr/>
        <p:txBody>
          <a:bodyPr/>
          <a:lstStyle/>
          <a:p>
            <a:r>
              <a:rPr lang="en-US" altLang="ko-KR" dirty="0"/>
              <a:t>Journey Insights</a:t>
            </a:r>
            <a:endParaRPr lang="ko-KR" altLang="en-US" dirty="0"/>
          </a:p>
        </p:txBody>
      </p:sp>
      <p:pic>
        <p:nvPicPr>
          <p:cNvPr id="3" name="Picture 2">
            <a:extLst>
              <a:ext uri="{FF2B5EF4-FFF2-40B4-BE49-F238E27FC236}">
                <a16:creationId xmlns:a16="http://schemas.microsoft.com/office/drawing/2014/main" id="{8684D9AA-9A99-AF78-63BF-1A7B9D113F82}"/>
              </a:ext>
            </a:extLst>
          </p:cNvPr>
          <p:cNvPicPr>
            <a:picLocks noChangeAspect="1"/>
          </p:cNvPicPr>
          <p:nvPr/>
        </p:nvPicPr>
        <p:blipFill>
          <a:blip r:embed="rId3"/>
          <a:stretch>
            <a:fillRect/>
          </a:stretch>
        </p:blipFill>
        <p:spPr>
          <a:xfrm>
            <a:off x="107504" y="3212976"/>
            <a:ext cx="4464496" cy="2143131"/>
          </a:xfrm>
          <a:prstGeom prst="rect">
            <a:avLst/>
          </a:prstGeom>
        </p:spPr>
      </p:pic>
      <p:graphicFrame>
        <p:nvGraphicFramePr>
          <p:cNvPr id="5" name="Table 4">
            <a:extLst>
              <a:ext uri="{FF2B5EF4-FFF2-40B4-BE49-F238E27FC236}">
                <a16:creationId xmlns:a16="http://schemas.microsoft.com/office/drawing/2014/main" id="{4E86178E-1F38-1025-6C5B-8B73676D2D96}"/>
              </a:ext>
            </a:extLst>
          </p:cNvPr>
          <p:cNvGraphicFramePr>
            <a:graphicFrameLocks noGrp="1"/>
          </p:cNvGraphicFramePr>
          <p:nvPr>
            <p:extLst>
              <p:ext uri="{D42A27DB-BD31-4B8C-83A1-F6EECF244321}">
                <p14:modId xmlns:p14="http://schemas.microsoft.com/office/powerpoint/2010/main" val="3503425751"/>
              </p:ext>
            </p:extLst>
          </p:nvPr>
        </p:nvGraphicFramePr>
        <p:xfrm>
          <a:off x="4716016" y="3081469"/>
          <a:ext cx="4344144" cy="2661920"/>
        </p:xfrm>
        <a:graphic>
          <a:graphicData uri="http://schemas.openxmlformats.org/drawingml/2006/table">
            <a:tbl>
              <a:tblPr firstRow="1" bandRow="1">
                <a:tableStyleId>{93296810-A885-4BE3-A3E7-6D5BEEA58F35}</a:tableStyleId>
              </a:tblPr>
              <a:tblGrid>
                <a:gridCol w="1184856">
                  <a:extLst>
                    <a:ext uri="{9D8B030D-6E8A-4147-A177-3AD203B41FA5}">
                      <a16:colId xmlns:a16="http://schemas.microsoft.com/office/drawing/2014/main" val="232916114"/>
                    </a:ext>
                  </a:extLst>
                </a:gridCol>
                <a:gridCol w="987216">
                  <a:extLst>
                    <a:ext uri="{9D8B030D-6E8A-4147-A177-3AD203B41FA5}">
                      <a16:colId xmlns:a16="http://schemas.microsoft.com/office/drawing/2014/main" val="426538277"/>
                    </a:ext>
                  </a:extLst>
                </a:gridCol>
                <a:gridCol w="1086036">
                  <a:extLst>
                    <a:ext uri="{9D8B030D-6E8A-4147-A177-3AD203B41FA5}">
                      <a16:colId xmlns:a16="http://schemas.microsoft.com/office/drawing/2014/main" val="3924912110"/>
                    </a:ext>
                  </a:extLst>
                </a:gridCol>
                <a:gridCol w="1086036">
                  <a:extLst>
                    <a:ext uri="{9D8B030D-6E8A-4147-A177-3AD203B41FA5}">
                      <a16:colId xmlns:a16="http://schemas.microsoft.com/office/drawing/2014/main" val="1875459603"/>
                    </a:ext>
                  </a:extLst>
                </a:gridCol>
              </a:tblGrid>
              <a:tr h="0">
                <a:tc>
                  <a:txBody>
                    <a:bodyPr/>
                    <a:lstStyle/>
                    <a:p>
                      <a:pPr algn="ctr"/>
                      <a:endParaRPr lang="en-US" dirty="0"/>
                    </a:p>
                  </a:txBody>
                  <a:tcPr anchor="ctr">
                    <a:solidFill>
                      <a:srgbClr val="FA643F"/>
                    </a:solidFill>
                  </a:tcPr>
                </a:tc>
                <a:tc>
                  <a:txBody>
                    <a:bodyPr/>
                    <a:lstStyle/>
                    <a:p>
                      <a:pPr algn="ctr"/>
                      <a:r>
                        <a:rPr lang="en-US" dirty="0"/>
                        <a:t>Payment</a:t>
                      </a:r>
                    </a:p>
                  </a:txBody>
                  <a:tcPr anchor="ctr">
                    <a:solidFill>
                      <a:srgbClr val="FA643F"/>
                    </a:solidFill>
                  </a:tcPr>
                </a:tc>
                <a:tc>
                  <a:txBody>
                    <a:bodyPr/>
                    <a:lstStyle/>
                    <a:p>
                      <a:pPr algn="ctr"/>
                      <a:r>
                        <a:rPr lang="en-US" dirty="0"/>
                        <a:t>Mean</a:t>
                      </a:r>
                    </a:p>
                  </a:txBody>
                  <a:tcPr anchor="ctr">
                    <a:solidFill>
                      <a:srgbClr val="FA643F"/>
                    </a:solidFill>
                  </a:tcPr>
                </a:tc>
                <a:tc>
                  <a:txBody>
                    <a:bodyPr/>
                    <a:lstStyle/>
                    <a:p>
                      <a:pPr algn="ctr"/>
                      <a:r>
                        <a:rPr lang="en-US" dirty="0"/>
                        <a:t>Standard Deviation</a:t>
                      </a:r>
                    </a:p>
                  </a:txBody>
                  <a:tcPr anchor="ctr">
                    <a:solidFill>
                      <a:srgbClr val="FA643F"/>
                    </a:solidFill>
                  </a:tcPr>
                </a:tc>
                <a:extLst>
                  <a:ext uri="{0D108BD9-81ED-4DB2-BD59-A6C34878D82A}">
                    <a16:rowId xmlns:a16="http://schemas.microsoft.com/office/drawing/2014/main" val="1723726874"/>
                  </a:ext>
                </a:extLst>
              </a:tr>
              <a:tr h="370840">
                <a:tc>
                  <a:txBody>
                    <a:bodyPr/>
                    <a:lstStyle/>
                    <a:p>
                      <a:pPr algn="ctr"/>
                      <a:r>
                        <a:rPr lang="en-US" dirty="0"/>
                        <a:t>Fare          Amount</a:t>
                      </a:r>
                    </a:p>
                  </a:txBody>
                  <a:tcPr anchor="ctr"/>
                </a:tc>
                <a:tc>
                  <a:txBody>
                    <a:bodyPr/>
                    <a:lstStyle/>
                    <a:p>
                      <a:pPr algn="ctr"/>
                      <a:r>
                        <a:rPr lang="en-US" dirty="0"/>
                        <a:t>Card</a:t>
                      </a:r>
                    </a:p>
                  </a:txBody>
                  <a:tcPr anchor="ctr"/>
                </a:tc>
                <a:tc>
                  <a:txBody>
                    <a:bodyPr/>
                    <a:lstStyle/>
                    <a:p>
                      <a:pPr algn="ctr"/>
                      <a:r>
                        <a:rPr lang="en-US" dirty="0"/>
                        <a:t>13.7</a:t>
                      </a:r>
                    </a:p>
                  </a:txBody>
                  <a:tcPr anchor="ctr"/>
                </a:tc>
                <a:tc>
                  <a:txBody>
                    <a:bodyPr/>
                    <a:lstStyle/>
                    <a:p>
                      <a:pPr algn="ctr"/>
                      <a:r>
                        <a:rPr lang="en-US" dirty="0"/>
                        <a:t>6.5</a:t>
                      </a:r>
                    </a:p>
                  </a:txBody>
                  <a:tcPr anchor="ctr"/>
                </a:tc>
                <a:extLst>
                  <a:ext uri="{0D108BD9-81ED-4DB2-BD59-A6C34878D82A}">
                    <a16:rowId xmlns:a16="http://schemas.microsoft.com/office/drawing/2014/main" val="2242706043"/>
                  </a:ext>
                </a:extLst>
              </a:tr>
              <a:tr h="370840">
                <a:tc>
                  <a:txBody>
                    <a:bodyPr/>
                    <a:lstStyle/>
                    <a:p>
                      <a:pPr algn="ctr"/>
                      <a:endParaRPr lang="en-US" dirty="0"/>
                    </a:p>
                  </a:txBody>
                  <a:tcPr anchor="ctr"/>
                </a:tc>
                <a:tc>
                  <a:txBody>
                    <a:bodyPr/>
                    <a:lstStyle/>
                    <a:p>
                      <a:pPr algn="ctr"/>
                      <a:r>
                        <a:rPr lang="en-US" dirty="0"/>
                        <a:t>Cash</a:t>
                      </a:r>
                    </a:p>
                  </a:txBody>
                  <a:tcPr anchor="ctr"/>
                </a:tc>
                <a:tc>
                  <a:txBody>
                    <a:bodyPr/>
                    <a:lstStyle/>
                    <a:p>
                      <a:pPr algn="ctr"/>
                      <a:r>
                        <a:rPr lang="en-US" dirty="0"/>
                        <a:t>12.25</a:t>
                      </a:r>
                    </a:p>
                  </a:txBody>
                  <a:tcPr anchor="ctr"/>
                </a:tc>
                <a:tc>
                  <a:txBody>
                    <a:bodyPr/>
                    <a:lstStyle/>
                    <a:p>
                      <a:pPr algn="ctr"/>
                      <a:r>
                        <a:rPr lang="en-US" dirty="0"/>
                        <a:t>6.2</a:t>
                      </a:r>
                    </a:p>
                  </a:txBody>
                  <a:tcPr anchor="ctr"/>
                </a:tc>
                <a:extLst>
                  <a:ext uri="{0D108BD9-81ED-4DB2-BD59-A6C34878D82A}">
                    <a16:rowId xmlns:a16="http://schemas.microsoft.com/office/drawing/2014/main" val="1072844958"/>
                  </a:ext>
                </a:extLst>
              </a:tr>
              <a:tr h="370840">
                <a:tc>
                  <a:txBody>
                    <a:bodyPr/>
                    <a:lstStyle/>
                    <a:p>
                      <a:pPr algn="ctr"/>
                      <a:r>
                        <a:rPr lang="en-US" dirty="0"/>
                        <a:t>Trip              Distance</a:t>
                      </a:r>
                    </a:p>
                  </a:txBody>
                  <a:tcPr anchor="ctr"/>
                </a:tc>
                <a:tc>
                  <a:txBody>
                    <a:bodyPr/>
                    <a:lstStyle/>
                    <a:p>
                      <a:pPr algn="ctr"/>
                      <a:r>
                        <a:rPr lang="en-US" dirty="0"/>
                        <a:t>Card</a:t>
                      </a:r>
                    </a:p>
                  </a:txBody>
                  <a:tcPr anchor="ctr"/>
                </a:tc>
                <a:tc>
                  <a:txBody>
                    <a:bodyPr/>
                    <a:lstStyle/>
                    <a:p>
                      <a:pPr algn="ctr"/>
                      <a:r>
                        <a:rPr lang="en-US" dirty="0"/>
                        <a:t>3.23</a:t>
                      </a:r>
                    </a:p>
                  </a:txBody>
                  <a:tcPr anchor="ctr"/>
                </a:tc>
                <a:tc>
                  <a:txBody>
                    <a:bodyPr/>
                    <a:lstStyle/>
                    <a:p>
                      <a:pPr algn="ctr"/>
                      <a:r>
                        <a:rPr lang="en-US" dirty="0"/>
                        <a:t>2.32</a:t>
                      </a:r>
                    </a:p>
                  </a:txBody>
                  <a:tcPr anchor="ctr"/>
                </a:tc>
                <a:extLst>
                  <a:ext uri="{0D108BD9-81ED-4DB2-BD59-A6C34878D82A}">
                    <a16:rowId xmlns:a16="http://schemas.microsoft.com/office/drawing/2014/main" val="1793484140"/>
                  </a:ext>
                </a:extLst>
              </a:tr>
              <a:tr h="370840">
                <a:tc>
                  <a:txBody>
                    <a:bodyPr/>
                    <a:lstStyle/>
                    <a:p>
                      <a:pPr algn="ctr"/>
                      <a:endParaRPr lang="en-US" dirty="0"/>
                    </a:p>
                  </a:txBody>
                  <a:tcPr anchor="ctr"/>
                </a:tc>
                <a:tc>
                  <a:txBody>
                    <a:bodyPr/>
                    <a:lstStyle/>
                    <a:p>
                      <a:pPr algn="ctr"/>
                      <a:r>
                        <a:rPr lang="en-US" dirty="0"/>
                        <a:t>Cash</a:t>
                      </a:r>
                    </a:p>
                  </a:txBody>
                  <a:tcPr anchor="ctr"/>
                </a:tc>
                <a:tc>
                  <a:txBody>
                    <a:bodyPr/>
                    <a:lstStyle/>
                    <a:p>
                      <a:pPr algn="ctr"/>
                      <a:r>
                        <a:rPr lang="en-US" dirty="0"/>
                        <a:t>2.8</a:t>
                      </a:r>
                    </a:p>
                  </a:txBody>
                  <a:tcPr anchor="ctr"/>
                </a:tc>
                <a:tc>
                  <a:txBody>
                    <a:bodyPr/>
                    <a:lstStyle/>
                    <a:p>
                      <a:pPr algn="ctr"/>
                      <a:r>
                        <a:rPr lang="en-US" dirty="0"/>
                        <a:t>2.23</a:t>
                      </a:r>
                    </a:p>
                  </a:txBody>
                  <a:tcPr anchor="ctr"/>
                </a:tc>
                <a:extLst>
                  <a:ext uri="{0D108BD9-81ED-4DB2-BD59-A6C34878D82A}">
                    <a16:rowId xmlns:a16="http://schemas.microsoft.com/office/drawing/2014/main" val="544974970"/>
                  </a:ext>
                </a:extLst>
              </a:tr>
            </a:tbl>
          </a:graphicData>
        </a:graphic>
      </p:graphicFrame>
    </p:spTree>
    <p:extLst>
      <p:ext uri="{BB962C8B-B14F-4D97-AF65-F5344CB8AC3E}">
        <p14:creationId xmlns:p14="http://schemas.microsoft.com/office/powerpoint/2010/main" val="2770375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60D940-4766-8A01-A7D9-E2D660FBB75D}"/>
            </a:ext>
          </a:extLst>
        </p:cNvPr>
        <p:cNvGrpSpPr/>
        <p:nvPr/>
      </p:nvGrpSpPr>
      <p:grpSpPr>
        <a:xfrm>
          <a:off x="0" y="0"/>
          <a:ext cx="0" cy="0"/>
          <a:chOff x="0" y="0"/>
          <a:chExt cx="0" cy="0"/>
        </a:xfrm>
      </p:grpSpPr>
      <p:sp>
        <p:nvSpPr>
          <p:cNvPr id="6" name="내용 개체 틀 5">
            <a:extLst>
              <a:ext uri="{FF2B5EF4-FFF2-40B4-BE49-F238E27FC236}">
                <a16:creationId xmlns:a16="http://schemas.microsoft.com/office/drawing/2014/main" id="{0784CEC2-F057-26AA-9E6B-BD561004DF57}"/>
              </a:ext>
            </a:extLst>
          </p:cNvPr>
          <p:cNvSpPr>
            <a:spLocks noGrp="1"/>
          </p:cNvSpPr>
          <p:nvPr>
            <p:ph idx="1"/>
          </p:nvPr>
        </p:nvSpPr>
        <p:spPr>
          <a:xfrm>
            <a:off x="4788024" y="1700808"/>
            <a:ext cx="4104456" cy="5070238"/>
          </a:xfrm>
        </p:spPr>
        <p:txBody>
          <a:bodyPr>
            <a:normAutofit/>
          </a:bodyPr>
          <a:lstStyle/>
          <a:p>
            <a:pPr>
              <a:lnSpc>
                <a:spcPct val="120000"/>
              </a:lnSpc>
              <a:buFont typeface="Arial" panose="020B0604020202020204" pitchFamily="34" charset="0"/>
              <a:buChar char="•"/>
            </a:pPr>
            <a:r>
              <a:rPr lang="en-US" altLang="ko-KR" dirty="0"/>
              <a:t>The proportion of Customers paying with cards is significantly higher than those paying with cash, with card payments accounting for 67.3% of all transactions compared to cash payments at 32.5%.</a:t>
            </a:r>
          </a:p>
          <a:p>
            <a:pPr>
              <a:lnSpc>
                <a:spcPct val="120000"/>
              </a:lnSpc>
              <a:buFont typeface="Arial" panose="020B0604020202020204" pitchFamily="34" charset="0"/>
              <a:buChar char="•"/>
            </a:pPr>
            <a:r>
              <a:rPr lang="en-US" altLang="ko-KR" dirty="0"/>
              <a:t>This indicates strong preference among customers for using card payments over cash, potentially due to convenience, security, or incentives offered for card transactions. </a:t>
            </a:r>
            <a:endParaRPr lang="ko-KR" altLang="en-US" dirty="0"/>
          </a:p>
        </p:txBody>
      </p:sp>
      <p:sp>
        <p:nvSpPr>
          <p:cNvPr id="4" name="제목 3">
            <a:extLst>
              <a:ext uri="{FF2B5EF4-FFF2-40B4-BE49-F238E27FC236}">
                <a16:creationId xmlns:a16="http://schemas.microsoft.com/office/drawing/2014/main" id="{9CE8C8EE-AEB5-BA75-14C7-82E860C1071A}"/>
              </a:ext>
            </a:extLst>
          </p:cNvPr>
          <p:cNvSpPr>
            <a:spLocks noGrp="1"/>
          </p:cNvSpPr>
          <p:nvPr>
            <p:ph type="title"/>
          </p:nvPr>
        </p:nvSpPr>
        <p:spPr/>
        <p:txBody>
          <a:bodyPr/>
          <a:lstStyle/>
          <a:p>
            <a:r>
              <a:rPr lang="en-US" altLang="ko-KR" dirty="0"/>
              <a:t>Preference of Payment Type	</a:t>
            </a:r>
            <a:endParaRPr lang="ko-KR" altLang="en-US" dirty="0"/>
          </a:p>
        </p:txBody>
      </p:sp>
      <p:pic>
        <p:nvPicPr>
          <p:cNvPr id="3" name="Picture 2">
            <a:extLst>
              <a:ext uri="{FF2B5EF4-FFF2-40B4-BE49-F238E27FC236}">
                <a16:creationId xmlns:a16="http://schemas.microsoft.com/office/drawing/2014/main" id="{B99D95E3-DFE9-BD65-4A0F-B2E36754BAFD}"/>
              </a:ext>
            </a:extLst>
          </p:cNvPr>
          <p:cNvPicPr>
            <a:picLocks noChangeAspect="1"/>
          </p:cNvPicPr>
          <p:nvPr/>
        </p:nvPicPr>
        <p:blipFill>
          <a:blip r:embed="rId3"/>
          <a:stretch>
            <a:fillRect/>
          </a:stretch>
        </p:blipFill>
        <p:spPr>
          <a:xfrm>
            <a:off x="323528" y="1700808"/>
            <a:ext cx="4392488" cy="4640906"/>
          </a:xfrm>
          <a:prstGeom prst="rect">
            <a:avLst/>
          </a:prstGeom>
        </p:spPr>
      </p:pic>
    </p:spTree>
    <p:extLst>
      <p:ext uri="{BB962C8B-B14F-4D97-AF65-F5344CB8AC3E}">
        <p14:creationId xmlns:p14="http://schemas.microsoft.com/office/powerpoint/2010/main" val="3696884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AF68C-34CF-E6B7-FB41-D57AC412201E}"/>
              </a:ext>
            </a:extLst>
          </p:cNvPr>
          <p:cNvSpPr>
            <a:spLocks noGrp="1"/>
          </p:cNvSpPr>
          <p:nvPr>
            <p:ph type="title"/>
          </p:nvPr>
        </p:nvSpPr>
        <p:spPr/>
        <p:txBody>
          <a:bodyPr/>
          <a:lstStyle/>
          <a:p>
            <a:r>
              <a:rPr lang="en-US" dirty="0"/>
              <a:t>Passenger Count Analysis</a:t>
            </a:r>
          </a:p>
        </p:txBody>
      </p:sp>
      <p:sp>
        <p:nvSpPr>
          <p:cNvPr id="3" name="Content Placeholder 2">
            <a:extLst>
              <a:ext uri="{FF2B5EF4-FFF2-40B4-BE49-F238E27FC236}">
                <a16:creationId xmlns:a16="http://schemas.microsoft.com/office/drawing/2014/main" id="{A6BE1543-7D26-466C-2E37-6AC08E32DA0B}"/>
              </a:ext>
            </a:extLst>
          </p:cNvPr>
          <p:cNvSpPr>
            <a:spLocks noGrp="1"/>
          </p:cNvSpPr>
          <p:nvPr>
            <p:ph idx="1"/>
          </p:nvPr>
        </p:nvSpPr>
        <p:spPr/>
        <p:txBody>
          <a:bodyPr/>
          <a:lstStyle/>
          <a:p>
            <a:pPr>
              <a:buFont typeface="Arial" panose="020B0604020202020204" pitchFamily="34" charset="0"/>
              <a:buChar char="•"/>
            </a:pPr>
            <a:r>
              <a:rPr lang="en-US" sz="1600" dirty="0"/>
              <a:t>Among card payments, rides with single passenger comprise the largest proportion,                 constituting 40% of all card transactions.</a:t>
            </a:r>
          </a:p>
          <a:p>
            <a:pPr>
              <a:buFont typeface="Arial" panose="020B0604020202020204" pitchFamily="34" charset="0"/>
              <a:buChar char="•"/>
            </a:pPr>
            <a:r>
              <a:rPr lang="en-US" sz="1600" dirty="0"/>
              <a:t>Similarly, cash payments are predominantly associated with single-passenger rides, making   up to 20% of all cash transaction.</a:t>
            </a:r>
          </a:p>
          <a:p>
            <a:pPr>
              <a:buFont typeface="Arial" panose="020B0604020202020204" pitchFamily="34" charset="0"/>
              <a:buChar char="•"/>
            </a:pPr>
            <a:r>
              <a:rPr lang="en-US" sz="1600" dirty="0"/>
              <a:t>There is a noticeable decrease in percentage of transactions as the passenger count increase, suggesting that larger groups are less likely to use taxi or may opt for alternative payment methods.</a:t>
            </a:r>
          </a:p>
          <a:p>
            <a:pPr>
              <a:buFont typeface="Arial" panose="020B0604020202020204" pitchFamily="34" charset="0"/>
              <a:buChar char="•"/>
            </a:pPr>
            <a:r>
              <a:rPr lang="en-US" sz="1600" dirty="0"/>
              <a:t>These insights emphasize the importance of considering both payment method and </a:t>
            </a:r>
            <a:r>
              <a:rPr lang="en-US" sz="1600" dirty="0" err="1"/>
              <a:t>passenge</a:t>
            </a:r>
            <a:r>
              <a:rPr lang="en-US" sz="1600" dirty="0"/>
              <a:t>-r count when analyzing transaction data, as they provide valuable insights into customer      behavior and preferences.</a:t>
            </a:r>
          </a:p>
          <a:p>
            <a:pPr>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BAB44C2E-82CE-D7A6-B277-BAD4ADE64B6E}"/>
              </a:ext>
            </a:extLst>
          </p:cNvPr>
          <p:cNvPicPr>
            <a:picLocks noChangeAspect="1"/>
          </p:cNvPicPr>
          <p:nvPr/>
        </p:nvPicPr>
        <p:blipFill>
          <a:blip r:embed="rId2"/>
          <a:stretch>
            <a:fillRect/>
          </a:stretch>
        </p:blipFill>
        <p:spPr>
          <a:xfrm>
            <a:off x="426368" y="4005064"/>
            <a:ext cx="8378080" cy="2590894"/>
          </a:xfrm>
          <a:prstGeom prst="rect">
            <a:avLst/>
          </a:prstGeom>
        </p:spPr>
      </p:pic>
    </p:spTree>
    <p:extLst>
      <p:ext uri="{BB962C8B-B14F-4D97-AF65-F5344CB8AC3E}">
        <p14:creationId xmlns:p14="http://schemas.microsoft.com/office/powerpoint/2010/main" val="1958673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E75F4-A3BD-CD00-C099-806A4217B959}"/>
              </a:ext>
            </a:extLst>
          </p:cNvPr>
          <p:cNvSpPr>
            <a:spLocks noGrp="1"/>
          </p:cNvSpPr>
          <p:nvPr>
            <p:ph type="title"/>
          </p:nvPr>
        </p:nvSpPr>
        <p:spPr/>
        <p:txBody>
          <a:bodyPr/>
          <a:lstStyle/>
          <a:p>
            <a:r>
              <a:rPr lang="en-US" dirty="0"/>
              <a:t>Hypothesis Testing</a:t>
            </a:r>
          </a:p>
        </p:txBody>
      </p:sp>
      <p:sp>
        <p:nvSpPr>
          <p:cNvPr id="3" name="Content Placeholder 2">
            <a:extLst>
              <a:ext uri="{FF2B5EF4-FFF2-40B4-BE49-F238E27FC236}">
                <a16:creationId xmlns:a16="http://schemas.microsoft.com/office/drawing/2014/main" id="{8AAED9C8-B951-A2A7-ACDC-89788E5E4429}"/>
              </a:ext>
            </a:extLst>
          </p:cNvPr>
          <p:cNvSpPr>
            <a:spLocks noGrp="1"/>
          </p:cNvSpPr>
          <p:nvPr>
            <p:ph idx="1"/>
          </p:nvPr>
        </p:nvSpPr>
        <p:spPr/>
        <p:txBody>
          <a:bodyPr/>
          <a:lstStyle/>
          <a:p>
            <a:r>
              <a:rPr lang="en-US" b="1" dirty="0"/>
              <a:t>Null Hypothesis</a:t>
            </a:r>
            <a:r>
              <a:rPr lang="en-US" dirty="0"/>
              <a:t>: There is no difference in average fare between customers who use credit card and customers who use cash.</a:t>
            </a:r>
          </a:p>
          <a:p>
            <a:endParaRPr lang="en-US" dirty="0"/>
          </a:p>
          <a:p>
            <a:r>
              <a:rPr lang="en-US" b="1" dirty="0"/>
              <a:t>Alternate Hypothesis</a:t>
            </a:r>
            <a:r>
              <a:rPr lang="en-US" dirty="0"/>
              <a:t>: There is a difference in average fare between customer--s who use credit cards and customers who use cash</a:t>
            </a:r>
          </a:p>
          <a:p>
            <a:endParaRPr lang="en-US" dirty="0"/>
          </a:p>
          <a:p>
            <a:r>
              <a:rPr lang="en-US" dirty="0"/>
              <a:t>With T-statistics of 169.21 and a P-Value of less than 0.05, we reject Null         </a:t>
            </a:r>
            <a:r>
              <a:rPr lang="en-US" dirty="0" err="1"/>
              <a:t>Hypotheis</a:t>
            </a:r>
            <a:r>
              <a:rPr lang="en-US" dirty="0"/>
              <a:t>, suggesting that there is indeed a significant difference in           average fare between the two payment methods.</a:t>
            </a:r>
          </a:p>
        </p:txBody>
      </p:sp>
    </p:spTree>
    <p:extLst>
      <p:ext uri="{BB962C8B-B14F-4D97-AF65-F5344CB8AC3E}">
        <p14:creationId xmlns:p14="http://schemas.microsoft.com/office/powerpoint/2010/main" val="619479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0FB8A-488E-41B0-1D17-3CBE4E4C44E5}"/>
              </a:ext>
            </a:extLst>
          </p:cNvPr>
          <p:cNvSpPr>
            <a:spLocks noGrp="1"/>
          </p:cNvSpPr>
          <p:nvPr>
            <p:ph type="title"/>
          </p:nvPr>
        </p:nvSpPr>
        <p:spPr/>
        <p:txBody>
          <a:bodyPr/>
          <a:lstStyle/>
          <a:p>
            <a:r>
              <a:rPr lang="en-US" dirty="0"/>
              <a:t>Recommendations	</a:t>
            </a:r>
          </a:p>
        </p:txBody>
      </p:sp>
      <p:pic>
        <p:nvPicPr>
          <p:cNvPr id="5" name="Content Placeholder 4" descr="Lightbulb and gear with solid fill">
            <a:extLst>
              <a:ext uri="{FF2B5EF4-FFF2-40B4-BE49-F238E27FC236}">
                <a16:creationId xmlns:a16="http://schemas.microsoft.com/office/drawing/2014/main" id="{C1DE0FDB-2FFD-12A7-BA9D-504C2B4B70AE}"/>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259632" y="1700808"/>
            <a:ext cx="914400" cy="914400"/>
          </a:xfrm>
        </p:spPr>
      </p:pic>
      <p:pic>
        <p:nvPicPr>
          <p:cNvPr id="7" name="Graphic 6" descr="Dollar with solid fill">
            <a:extLst>
              <a:ext uri="{FF2B5EF4-FFF2-40B4-BE49-F238E27FC236}">
                <a16:creationId xmlns:a16="http://schemas.microsoft.com/office/drawing/2014/main" id="{011BC54E-A255-403C-D747-4EDB6822F84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25285" y="3388804"/>
            <a:ext cx="914400" cy="914400"/>
          </a:xfrm>
          <a:prstGeom prst="rect">
            <a:avLst/>
          </a:prstGeom>
        </p:spPr>
      </p:pic>
      <p:pic>
        <p:nvPicPr>
          <p:cNvPr id="9" name="Graphic 8" descr="Lock with solid fill">
            <a:extLst>
              <a:ext uri="{FF2B5EF4-FFF2-40B4-BE49-F238E27FC236}">
                <a16:creationId xmlns:a16="http://schemas.microsoft.com/office/drawing/2014/main" id="{865A2BF3-C6A3-C96C-A9BF-2B492B76ABE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29477" y="5085184"/>
            <a:ext cx="914400" cy="914400"/>
          </a:xfrm>
          <a:prstGeom prst="rect">
            <a:avLst/>
          </a:prstGeom>
        </p:spPr>
      </p:pic>
      <p:sp>
        <p:nvSpPr>
          <p:cNvPr id="10" name="TextBox 9">
            <a:extLst>
              <a:ext uri="{FF2B5EF4-FFF2-40B4-BE49-F238E27FC236}">
                <a16:creationId xmlns:a16="http://schemas.microsoft.com/office/drawing/2014/main" id="{44829A29-B747-2162-D7A6-B9C6E8BB8E68}"/>
              </a:ext>
            </a:extLst>
          </p:cNvPr>
          <p:cNvSpPr txBox="1"/>
          <p:nvPr/>
        </p:nvSpPr>
        <p:spPr>
          <a:xfrm>
            <a:off x="2576601" y="1764099"/>
            <a:ext cx="6131024" cy="4401205"/>
          </a:xfrm>
          <a:prstGeom prst="rect">
            <a:avLst/>
          </a:prstGeom>
          <a:noFill/>
        </p:spPr>
        <p:txBody>
          <a:bodyPr wrap="square" rtlCol="0">
            <a:spAutoFit/>
          </a:bodyPr>
          <a:lstStyle/>
          <a:p>
            <a:r>
              <a:rPr lang="en-US" sz="2000" dirty="0"/>
              <a:t>Encourage customers to pay with credit cards to capitalize potential for generating more revenue for taxi cab drivers</a:t>
            </a:r>
          </a:p>
          <a:p>
            <a:endParaRPr lang="en-US" sz="2000" dirty="0"/>
          </a:p>
          <a:p>
            <a:endParaRPr lang="en-US" sz="2000" dirty="0"/>
          </a:p>
          <a:p>
            <a:endParaRPr lang="en-US" sz="2000" dirty="0"/>
          </a:p>
          <a:p>
            <a:r>
              <a:rPr lang="en-US" sz="2000" dirty="0"/>
              <a:t>Implement strategies such as offering incentives or            discounts for credit card transactions to incentivize            customers to choose this payment method.</a:t>
            </a:r>
          </a:p>
          <a:p>
            <a:endParaRPr lang="en-US" sz="2000" dirty="0"/>
          </a:p>
          <a:p>
            <a:endParaRPr lang="en-US" sz="2000" dirty="0"/>
          </a:p>
          <a:p>
            <a:endParaRPr lang="en-US" sz="2000" dirty="0"/>
          </a:p>
          <a:p>
            <a:r>
              <a:rPr lang="en-US" sz="2000" dirty="0"/>
              <a:t>Provide seamless and secure credit card payment options to enhance customer  convenience and encourage             adoption of this preferred payment method.</a:t>
            </a:r>
          </a:p>
        </p:txBody>
      </p:sp>
    </p:spTree>
    <p:extLst>
      <p:ext uri="{BB962C8B-B14F-4D97-AF65-F5344CB8AC3E}">
        <p14:creationId xmlns:p14="http://schemas.microsoft.com/office/powerpoint/2010/main" val="4056691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1"/>
          <p:cNvSpPr>
            <a:spLocks noGrp="1"/>
          </p:cNvSpPr>
          <p:nvPr>
            <p:ph type="ctrTitle"/>
          </p:nvPr>
        </p:nvSpPr>
        <p:spPr>
          <a:xfrm>
            <a:off x="611560" y="980728"/>
            <a:ext cx="4289648" cy="2376264"/>
          </a:xfrm>
        </p:spPr>
        <p:txBody>
          <a:bodyPr/>
          <a:lstStyle/>
          <a:p>
            <a:r>
              <a:rPr lang="en-US" altLang="ko-KR" dirty="0">
                <a:solidFill>
                  <a:schemeClr val="bg1"/>
                </a:solidFill>
              </a:rPr>
              <a:t>THANK </a:t>
            </a:r>
            <a:r>
              <a:rPr lang="en-US" altLang="ko-KR" dirty="0">
                <a:solidFill>
                  <a:srgbClr val="FFA200"/>
                </a:solidFill>
              </a:rPr>
              <a:t>Y</a:t>
            </a:r>
            <a:r>
              <a:rPr lang="en-US" altLang="ko-KR" dirty="0">
                <a:solidFill>
                  <a:schemeClr val="bg1"/>
                </a:solidFill>
              </a:rPr>
              <a:t>OU</a:t>
            </a:r>
            <a:endParaRPr lang="ko-KR" altLang="en-US" dirty="0">
              <a:solidFill>
                <a:schemeClr val="bg1"/>
              </a:solidFill>
            </a:endParaRPr>
          </a:p>
        </p:txBody>
      </p:sp>
      <p:grpSp>
        <p:nvGrpSpPr>
          <p:cNvPr id="4" name="그룹 3"/>
          <p:cNvGrpSpPr/>
          <p:nvPr/>
        </p:nvGrpSpPr>
        <p:grpSpPr>
          <a:xfrm>
            <a:off x="1331640" y="849673"/>
            <a:ext cx="298268" cy="199284"/>
            <a:chOff x="-1620688" y="2063274"/>
            <a:chExt cx="996901" cy="666065"/>
          </a:xfrm>
        </p:grpSpPr>
        <p:sp>
          <p:nvSpPr>
            <p:cNvPr id="5" name="직사각형 4"/>
            <p:cNvSpPr/>
            <p:nvPr/>
          </p:nvSpPr>
          <p:spPr>
            <a:xfrm>
              <a:off x="-1289496" y="2063274"/>
              <a:ext cx="331192" cy="33119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p:cNvSpPr/>
            <p:nvPr/>
          </p:nvSpPr>
          <p:spPr>
            <a:xfrm>
              <a:off x="-1620688" y="2398147"/>
              <a:ext cx="331192" cy="331192"/>
            </a:xfrm>
            <a:prstGeom prst="rect">
              <a:avLst/>
            </a:prstGeom>
            <a:solidFill>
              <a:srgbClr val="FFA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p:cNvSpPr/>
            <p:nvPr/>
          </p:nvSpPr>
          <p:spPr>
            <a:xfrm>
              <a:off x="-954979" y="2398147"/>
              <a:ext cx="331192" cy="331192"/>
            </a:xfrm>
            <a:prstGeom prst="rect">
              <a:avLst/>
            </a:prstGeom>
            <a:solidFill>
              <a:srgbClr val="FFA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cSld>
  <p:clrMapOvr>
    <a:masterClrMapping/>
  </p:clrMapOvr>
</p:sld>
</file>

<file path=ppt/theme/theme1.xml><?xml version="1.0" encoding="utf-8"?>
<a:theme xmlns:a="http://schemas.openxmlformats.org/drawingml/2006/main" name="Office 테마">
  <a:themeElements>
    <a:clrScheme name="사용자 지정 2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FFFFFF"/>
      </a:folHlink>
    </a:clrScheme>
    <a:fontScheme name="사용자 지정 1">
      <a:majorFont>
        <a:latin typeface="Calibri"/>
        <a:ea typeface="맑은 고딕"/>
        <a:cs typeface=""/>
      </a:majorFont>
      <a:minorFont>
        <a:latin typeface="Calibri Light"/>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24259</TotalTime>
  <Words>661</Words>
  <Application>Microsoft Office PowerPoint</Application>
  <PresentationFormat>On-screen Show (4:3)</PresentationFormat>
  <Paragraphs>88</Paragraphs>
  <Slides>12</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 Light</vt:lpstr>
      <vt:lpstr>Arial</vt:lpstr>
      <vt:lpstr>굴림체</vt:lpstr>
      <vt:lpstr>맑은 고딕</vt:lpstr>
      <vt:lpstr>Noto Sans</vt:lpstr>
      <vt:lpstr>Office 테마</vt:lpstr>
      <vt:lpstr>MAXIMIZING REVENUE FOR DRIVERS</vt:lpstr>
      <vt:lpstr>PowerPoint Presentation</vt:lpstr>
      <vt:lpstr>PowerPoint Presentation</vt:lpstr>
      <vt:lpstr>PowerPoint Presentation</vt:lpstr>
      <vt:lpstr>Data Overview</vt:lpstr>
      <vt:lpstr>Methodology</vt:lpstr>
      <vt:lpstr>Journey Insights</vt:lpstr>
      <vt:lpstr>Preference of Payment Type </vt:lpstr>
      <vt:lpstr>Passenger Count Analysis</vt:lpstr>
      <vt:lpstr>Hypothesis Testing</vt:lpstr>
      <vt:lpstr>Recommendations </vt:lpstr>
      <vt:lpstr>THANK YOU</vt:lpstr>
    </vt:vector>
  </TitlesOfParts>
  <Manager>Slide Members</Manager>
  <Company>YESFORM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 Diagram, Chart, Google slides, Keynote</dc:subject>
  <dc:creator>Slide Members by HS.SEO</dc:creator>
  <cp:keywords>SlideMembers, ppt, PPT Templates, Presentation, Diagram, Chart, Yesform, Google slides, Keynote, Free Slides</cp:keywords>
  <dc:description>The copyright of this document is at Slide Members. Unauthorized copying may result in legal sanctions.</dc:description>
  <cp:lastModifiedBy>Basant Chaudhry</cp:lastModifiedBy>
  <cp:revision>3</cp:revision>
  <dcterms:created xsi:type="dcterms:W3CDTF">2010-02-01T08:03:16Z</dcterms:created>
  <dcterms:modified xsi:type="dcterms:W3CDTF">2025-02-05T09:00:16Z</dcterms:modified>
  <cp:category>www.slidemembers.com</cp:category>
</cp:coreProperties>
</file>